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87" r:id="rId16"/>
    <p:sldId id="270" r:id="rId17"/>
    <p:sldId id="271" r:id="rId18"/>
    <p:sldId id="272" r:id="rId19"/>
    <p:sldId id="274" r:id="rId20"/>
    <p:sldId id="273" r:id="rId21"/>
    <p:sldId id="275" r:id="rId22"/>
    <p:sldId id="276" r:id="rId23"/>
    <p:sldId id="281" r:id="rId24"/>
    <p:sldId id="279" r:id="rId25"/>
    <p:sldId id="286" r:id="rId26"/>
    <p:sldId id="280" r:id="rId27"/>
    <p:sldId id="282" r:id="rId28"/>
    <p:sldId id="283" r:id="rId29"/>
    <p:sldId id="284" r:id="rId30"/>
    <p:sldId id="285" r:id="rId31"/>
    <p:sldId id="312" r:id="rId32"/>
    <p:sldId id="314" r:id="rId33"/>
    <p:sldId id="315" r:id="rId34"/>
    <p:sldId id="316" r:id="rId35"/>
    <p:sldId id="318" r:id="rId36"/>
    <p:sldId id="317" r:id="rId37"/>
    <p:sldId id="319" r:id="rId38"/>
    <p:sldId id="306" r:id="rId39"/>
    <p:sldId id="307" r:id="rId40"/>
    <p:sldId id="308" r:id="rId41"/>
    <p:sldId id="309" r:id="rId42"/>
    <p:sldId id="310" r:id="rId43"/>
    <p:sldId id="277" r:id="rId44"/>
    <p:sldId id="289" r:id="rId45"/>
    <p:sldId id="311" r:id="rId46"/>
    <p:sldId id="320" r:id="rId47"/>
    <p:sldId id="278"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FEA</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Sheet1!$A$2</c:f>
              <c:strCache>
                <c:ptCount val="1"/>
                <c:pt idx="0">
                  <c:v>TOTAL DEFROMATION</c:v>
                </c:pt>
              </c:strCache>
            </c:strRef>
          </c:cat>
          <c:val>
            <c:numRef>
              <c:f>Sheet1!$B$2</c:f>
              <c:numCache>
                <c:formatCode>General</c:formatCode>
                <c:ptCount val="1"/>
                <c:pt idx="0">
                  <c:v>3.6</c:v>
                </c:pt>
              </c:numCache>
            </c:numRef>
          </c:val>
        </c:ser>
        <c:ser>
          <c:idx val="1"/>
          <c:order val="1"/>
          <c:tx>
            <c:strRef>
              <c:f>Sheet1!$C$1</c:f>
              <c:strCache>
                <c:ptCount val="1"/>
                <c:pt idx="0">
                  <c:v>EXPERIMENTAL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Sheet1!$A$2</c:f>
              <c:strCache>
                <c:ptCount val="1"/>
                <c:pt idx="0">
                  <c:v>TOTAL DEFROMATION</c:v>
                </c:pt>
              </c:strCache>
            </c:strRef>
          </c:cat>
          <c:val>
            <c:numRef>
              <c:f>Sheet1!$C$2</c:f>
              <c:numCache>
                <c:formatCode>General</c:formatCode>
                <c:ptCount val="1"/>
                <c:pt idx="0">
                  <c:v>4.0999999999999996</c:v>
                </c:pt>
              </c:numCache>
            </c:numRef>
          </c:val>
        </c:ser>
        <c:dLbls>
          <c:showLegendKey val="0"/>
          <c:showVal val="0"/>
          <c:showCatName val="0"/>
          <c:showSerName val="0"/>
          <c:showPercent val="0"/>
          <c:showBubbleSize val="0"/>
        </c:dLbls>
        <c:gapWidth val="100"/>
        <c:overlap val="-24"/>
        <c:axId val="134482176"/>
        <c:axId val="134483968"/>
      </c:barChart>
      <c:catAx>
        <c:axId val="134482176"/>
        <c:scaling>
          <c:orientation val="minMax"/>
        </c:scaling>
        <c:delete val="0"/>
        <c:axPos val="b"/>
        <c:majorTickMark val="none"/>
        <c:minorTickMark val="none"/>
        <c:tickLblPos val="nextTo"/>
        <c:spPr>
          <a:noFill/>
          <a:ln w="12700" cap="flat" cmpd="sng" algn="ctr">
            <a:solidFill>
              <a:schemeClr val="lt1">
                <a:lumMod val="95000"/>
                <a:alpha val="54000"/>
              </a:schemeClr>
            </a:solidFill>
            <a:round/>
          </a:ln>
          <a:effectLst/>
        </c:spPr>
        <c:txPr>
          <a:bodyPr rot="-6000000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endParaRPr lang="en-US"/>
          </a:p>
        </c:txPr>
        <c:crossAx val="134483968"/>
        <c:crosses val="autoZero"/>
        <c:auto val="1"/>
        <c:lblAlgn val="ctr"/>
        <c:lblOffset val="100"/>
        <c:noMultiLvlLbl val="0"/>
      </c:catAx>
      <c:valAx>
        <c:axId val="134483968"/>
        <c:scaling>
          <c:orientation val="minMax"/>
          <c:min val="0"/>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endParaRPr lang="en-US"/>
          </a:p>
        </c:txPr>
        <c:crossAx val="134482176"/>
        <c:crosses val="autoZero"/>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en-US"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gradFill>
    <a:ln>
      <a:noFill/>
    </a:ln>
    <a:effectLst/>
  </c:spPr>
  <c:txPr>
    <a:bodyPr/>
    <a:lstStyle/>
    <a:p>
      <a:pPr>
        <a:defRPr lang="en-US"/>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BB42D72-0C15-4B9E-A77F-8E005B2C84D1}" type="doc">
      <dgm:prSet loTypeId="urn:microsoft.com/office/officeart/2005/8/layout/chevron2" loCatId="list" qsTypeId="urn:microsoft.com/office/officeart/2005/8/quickstyle/simple1#1" qsCatId="simple" csTypeId="urn:microsoft.com/office/officeart/2005/8/colors/accent1_2#1" csCatId="accent1" phldr="1"/>
      <dgm:spPr/>
      <dgm:t>
        <a:bodyPr/>
        <a:lstStyle/>
        <a:p>
          <a:endParaRPr lang="en-IN"/>
        </a:p>
      </dgm:t>
    </dgm:pt>
    <dgm:pt modelId="{15C883B3-9FE0-42A0-8AFF-D27094C386F0}">
      <dgm:prSet phldrT="[Text]" custT="1"/>
      <dgm:spPr/>
      <dgm:t>
        <a:bodyPr/>
        <a:lstStyle/>
        <a:p>
          <a:r>
            <a:rPr lang="en-IN" sz="1400"/>
            <a:t>Stage 1</a:t>
          </a:r>
        </a:p>
      </dgm:t>
    </dgm:pt>
    <dgm:pt modelId="{6E9B140A-4BC4-4613-AB50-F36D3C6EC568}" type="parTrans" cxnId="{0C07B7E3-9487-4C3A-B67B-EFA89DBC9514}">
      <dgm:prSet/>
      <dgm:spPr/>
      <dgm:t>
        <a:bodyPr/>
        <a:lstStyle/>
        <a:p>
          <a:endParaRPr lang="en-IN"/>
        </a:p>
      </dgm:t>
    </dgm:pt>
    <dgm:pt modelId="{E0CEF305-87FC-4A17-910D-418775E70E3A}" type="sibTrans" cxnId="{0C07B7E3-9487-4C3A-B67B-EFA89DBC9514}">
      <dgm:prSet/>
      <dgm:spPr/>
      <dgm:t>
        <a:bodyPr/>
        <a:lstStyle/>
        <a:p>
          <a:endParaRPr lang="en-IN"/>
        </a:p>
      </dgm:t>
    </dgm:pt>
    <dgm:pt modelId="{2A955894-D780-438A-B539-45B2834298BB}">
      <dgm:prSet phldrT="[Text]"/>
      <dgm:spPr/>
      <dgm:t>
        <a:bodyPr/>
        <a:lstStyle/>
        <a:p>
          <a:pPr algn="just"/>
          <a:r>
            <a:rPr lang="en-US"/>
            <a:t>In this semester we started the work of this project with literature survey. </a:t>
          </a:r>
          <a:endParaRPr lang="en-IN"/>
        </a:p>
      </dgm:t>
    </dgm:pt>
    <dgm:pt modelId="{74FC8FDA-DDBD-447F-8830-46CCD5B1005E}" type="parTrans" cxnId="{22087B42-64C8-471C-AA0C-83AC3A27C2EA}">
      <dgm:prSet/>
      <dgm:spPr/>
      <dgm:t>
        <a:bodyPr/>
        <a:lstStyle/>
        <a:p>
          <a:endParaRPr lang="en-IN"/>
        </a:p>
      </dgm:t>
    </dgm:pt>
    <dgm:pt modelId="{FCD6FC2A-0827-4C42-9FEF-B2DCAC0D1F90}" type="sibTrans" cxnId="{22087B42-64C8-471C-AA0C-83AC3A27C2EA}">
      <dgm:prSet/>
      <dgm:spPr/>
      <dgm:t>
        <a:bodyPr/>
        <a:lstStyle/>
        <a:p>
          <a:endParaRPr lang="en-IN"/>
        </a:p>
      </dgm:t>
    </dgm:pt>
    <dgm:pt modelId="{585B1731-9BD5-4330-AABF-D5B32263AFE5}">
      <dgm:prSet phldrT="[Text]"/>
      <dgm:spPr/>
      <dgm:t>
        <a:bodyPr/>
        <a:lstStyle/>
        <a:p>
          <a:pPr algn="just"/>
          <a:r>
            <a:rPr lang="en-US"/>
            <a:t>Gathered many research papers which are relevant to this topic</a:t>
          </a:r>
          <a:endParaRPr lang="en-IN"/>
        </a:p>
      </dgm:t>
    </dgm:pt>
    <dgm:pt modelId="{2A48E09A-A91A-4AED-B623-8A7CDF57F286}" type="parTrans" cxnId="{23AA7AC8-4B67-43E9-BDBF-D29F2D4CAABB}">
      <dgm:prSet/>
      <dgm:spPr/>
      <dgm:t>
        <a:bodyPr/>
        <a:lstStyle/>
        <a:p>
          <a:endParaRPr lang="en-IN"/>
        </a:p>
      </dgm:t>
    </dgm:pt>
    <dgm:pt modelId="{9C0B4097-2936-42D5-9326-FF47BA8B78C5}" type="sibTrans" cxnId="{23AA7AC8-4B67-43E9-BDBF-D29F2D4CAABB}">
      <dgm:prSet/>
      <dgm:spPr/>
      <dgm:t>
        <a:bodyPr/>
        <a:lstStyle/>
        <a:p>
          <a:endParaRPr lang="en-IN"/>
        </a:p>
      </dgm:t>
    </dgm:pt>
    <dgm:pt modelId="{425C03CB-1997-42EA-84DC-A12E590D0D17}">
      <dgm:prSet phldrT="[Text]" custT="1"/>
      <dgm:spPr/>
      <dgm:t>
        <a:bodyPr/>
        <a:lstStyle/>
        <a:p>
          <a:r>
            <a:rPr lang="en-IN" sz="1400"/>
            <a:t>Stage 2</a:t>
          </a:r>
        </a:p>
      </dgm:t>
    </dgm:pt>
    <dgm:pt modelId="{F1DB87F8-0A69-442F-8699-61DE1E68415B}" type="parTrans" cxnId="{72CCCC7A-B29A-48BC-87F3-14F52AE2E627}">
      <dgm:prSet/>
      <dgm:spPr/>
      <dgm:t>
        <a:bodyPr/>
        <a:lstStyle/>
        <a:p>
          <a:endParaRPr lang="en-IN"/>
        </a:p>
      </dgm:t>
    </dgm:pt>
    <dgm:pt modelId="{3CBE3BA1-3F14-491E-9C41-E403EFD34EF0}" type="sibTrans" cxnId="{72CCCC7A-B29A-48BC-87F3-14F52AE2E627}">
      <dgm:prSet/>
      <dgm:spPr/>
      <dgm:t>
        <a:bodyPr/>
        <a:lstStyle/>
        <a:p>
          <a:endParaRPr lang="en-IN"/>
        </a:p>
      </dgm:t>
    </dgm:pt>
    <dgm:pt modelId="{4AB03AD9-AA1A-4060-B764-529D4919BA53}">
      <dgm:prSet phldrT="[Text]"/>
      <dgm:spPr/>
      <dgm:t>
        <a:bodyPr/>
        <a:lstStyle/>
        <a:p>
          <a:pPr algn="just"/>
          <a:r>
            <a:rPr lang="en-US"/>
            <a:t>After gathered research paper we describe literature gap on, and identify need of project. </a:t>
          </a:r>
          <a:endParaRPr lang="en-IN"/>
        </a:p>
      </dgm:t>
    </dgm:pt>
    <dgm:pt modelId="{BB255443-04DC-4930-A605-ACE361AF37B1}" type="parTrans" cxnId="{509C6564-8519-4E6B-9EA8-17691651E7E7}">
      <dgm:prSet/>
      <dgm:spPr/>
      <dgm:t>
        <a:bodyPr/>
        <a:lstStyle/>
        <a:p>
          <a:endParaRPr lang="en-IN"/>
        </a:p>
      </dgm:t>
    </dgm:pt>
    <dgm:pt modelId="{E6135F85-9BBA-45FA-9CC9-DB1E001093DE}" type="sibTrans" cxnId="{509C6564-8519-4E6B-9EA8-17691651E7E7}">
      <dgm:prSet/>
      <dgm:spPr/>
      <dgm:t>
        <a:bodyPr/>
        <a:lstStyle/>
        <a:p>
          <a:endParaRPr lang="en-IN"/>
        </a:p>
      </dgm:t>
    </dgm:pt>
    <dgm:pt modelId="{063F4BB9-6EAD-435F-A38E-889EE365B00B}">
      <dgm:prSet phldrT="[Text]"/>
      <dgm:spPr/>
      <dgm:t>
        <a:bodyPr/>
        <a:lstStyle/>
        <a:p>
          <a:pPr algn="just"/>
          <a:r>
            <a:rPr lang="en-US"/>
            <a:t>Then started work on concept design with the help of literature survey market survey.</a:t>
          </a:r>
          <a:endParaRPr lang="en-IN"/>
        </a:p>
      </dgm:t>
    </dgm:pt>
    <dgm:pt modelId="{A7C6F021-366A-4D63-B8B6-27A9F8090632}" type="parTrans" cxnId="{3695EEA9-4D4D-4303-90E7-ABFFB3701009}">
      <dgm:prSet/>
      <dgm:spPr/>
      <dgm:t>
        <a:bodyPr/>
        <a:lstStyle/>
        <a:p>
          <a:endParaRPr lang="en-IN"/>
        </a:p>
      </dgm:t>
    </dgm:pt>
    <dgm:pt modelId="{DD4D80F9-DF64-4D1F-87F4-1E5963C4D23E}" type="sibTrans" cxnId="{3695EEA9-4D4D-4303-90E7-ABFFB3701009}">
      <dgm:prSet/>
      <dgm:spPr/>
      <dgm:t>
        <a:bodyPr/>
        <a:lstStyle/>
        <a:p>
          <a:endParaRPr lang="en-IN"/>
        </a:p>
      </dgm:t>
    </dgm:pt>
    <dgm:pt modelId="{6D474DA2-3AF0-4E53-BD24-04D6D62937EC}">
      <dgm:prSet phldrT="[Text]" custT="1"/>
      <dgm:spPr/>
      <dgm:t>
        <a:bodyPr/>
        <a:lstStyle/>
        <a:p>
          <a:r>
            <a:rPr lang="en-IN" sz="1400"/>
            <a:t>Stage 3</a:t>
          </a:r>
        </a:p>
      </dgm:t>
    </dgm:pt>
    <dgm:pt modelId="{09DCADEE-64D2-443B-9F55-B0A88392DF0A}" type="parTrans" cxnId="{57587F2D-04A9-4D3C-90BA-B775F11151D3}">
      <dgm:prSet/>
      <dgm:spPr/>
      <dgm:t>
        <a:bodyPr/>
        <a:lstStyle/>
        <a:p>
          <a:endParaRPr lang="en-IN"/>
        </a:p>
      </dgm:t>
    </dgm:pt>
    <dgm:pt modelId="{2160646A-E458-411A-89FE-60D16E9715DC}" type="sibTrans" cxnId="{57587F2D-04A9-4D3C-90BA-B775F11151D3}">
      <dgm:prSet/>
      <dgm:spPr/>
      <dgm:t>
        <a:bodyPr/>
        <a:lstStyle/>
        <a:p>
          <a:endParaRPr lang="en-IN"/>
        </a:p>
      </dgm:t>
    </dgm:pt>
    <dgm:pt modelId="{372A1154-99A5-4BA1-A4E0-73A8E851C712}">
      <dgm:prSet phldrT="[Text]"/>
      <dgm:spPr/>
      <dgm:t>
        <a:bodyPr/>
        <a:lstStyle/>
        <a:p>
          <a:pPr algn="just"/>
          <a:r>
            <a:rPr lang="en-US"/>
            <a:t>After finalizing concept 3D model of project, we started work on material selection design and also discuss about component. </a:t>
          </a:r>
          <a:endParaRPr lang="en-IN"/>
        </a:p>
      </dgm:t>
    </dgm:pt>
    <dgm:pt modelId="{47DCE101-DA59-4E65-9260-CEEB1B36AEB8}" type="parTrans" cxnId="{73DF3658-877A-421D-BA82-47FF5B71E690}">
      <dgm:prSet/>
      <dgm:spPr/>
      <dgm:t>
        <a:bodyPr/>
        <a:lstStyle/>
        <a:p>
          <a:endParaRPr lang="en-IN"/>
        </a:p>
      </dgm:t>
    </dgm:pt>
    <dgm:pt modelId="{6349C405-F7E9-4B14-A9A2-17A3CEAE42D7}" type="sibTrans" cxnId="{73DF3658-877A-421D-BA82-47FF5B71E690}">
      <dgm:prSet/>
      <dgm:spPr/>
      <dgm:t>
        <a:bodyPr/>
        <a:lstStyle/>
        <a:p>
          <a:endParaRPr lang="en-IN"/>
        </a:p>
      </dgm:t>
    </dgm:pt>
    <dgm:pt modelId="{E74DA955-77E7-4960-BD5A-069339CA1E7C}">
      <dgm:prSet phldrT="[Text]"/>
      <dgm:spPr/>
      <dgm:t>
        <a:bodyPr/>
        <a:lstStyle/>
        <a:p>
          <a:pPr algn="just">
            <a:buFont typeface="Symbol" panose="05050102010706020507" pitchFamily="1" charset="2"/>
            <a:buChar char=""/>
          </a:pPr>
          <a:r>
            <a:rPr lang="en-US"/>
            <a:t>After deciding the components, the 3D Model and drafting will be done with the help of CATIA software.</a:t>
          </a:r>
          <a:endParaRPr lang="en-IN"/>
        </a:p>
      </dgm:t>
    </dgm:pt>
    <dgm:pt modelId="{F5CFB12E-B7FE-4693-B913-2504A18E2561}" type="parTrans" cxnId="{95B5DE08-63CF-4970-B3DE-6B6F0C331420}">
      <dgm:prSet/>
      <dgm:spPr/>
      <dgm:t>
        <a:bodyPr/>
        <a:lstStyle/>
        <a:p>
          <a:endParaRPr lang="en-IN"/>
        </a:p>
      </dgm:t>
    </dgm:pt>
    <dgm:pt modelId="{BED64803-0A07-428E-9B2E-80C43C1BDCBD}" type="sibTrans" cxnId="{95B5DE08-63CF-4970-B3DE-6B6F0C331420}">
      <dgm:prSet/>
      <dgm:spPr/>
      <dgm:t>
        <a:bodyPr/>
        <a:lstStyle/>
        <a:p>
          <a:endParaRPr lang="en-IN"/>
        </a:p>
      </dgm:t>
    </dgm:pt>
    <dgm:pt modelId="{D7D39375-D6DF-4152-8E78-5F7C89D35211}" type="pres">
      <dgm:prSet presAssocID="{7BB42D72-0C15-4B9E-A77F-8E005B2C84D1}" presName="linearFlow" presStyleCnt="0">
        <dgm:presLayoutVars>
          <dgm:dir/>
          <dgm:animLvl val="lvl"/>
          <dgm:resizeHandles val="exact"/>
        </dgm:presLayoutVars>
      </dgm:prSet>
      <dgm:spPr/>
      <dgm:t>
        <a:bodyPr/>
        <a:lstStyle/>
        <a:p>
          <a:endParaRPr lang="en-US"/>
        </a:p>
      </dgm:t>
    </dgm:pt>
    <dgm:pt modelId="{CC7E7727-2B1A-47AA-B791-7A4DB3449C2E}" type="pres">
      <dgm:prSet presAssocID="{15C883B3-9FE0-42A0-8AFF-D27094C386F0}" presName="composite" presStyleCnt="0"/>
      <dgm:spPr/>
    </dgm:pt>
    <dgm:pt modelId="{482B6B60-FA51-46C0-910F-72F970FA04B2}" type="pres">
      <dgm:prSet presAssocID="{15C883B3-9FE0-42A0-8AFF-D27094C386F0}" presName="parentText" presStyleLbl="alignNode1" presStyleIdx="0" presStyleCnt="3">
        <dgm:presLayoutVars>
          <dgm:chMax val="1"/>
          <dgm:bulletEnabled val="1"/>
        </dgm:presLayoutVars>
      </dgm:prSet>
      <dgm:spPr/>
      <dgm:t>
        <a:bodyPr/>
        <a:lstStyle/>
        <a:p>
          <a:endParaRPr lang="en-US"/>
        </a:p>
      </dgm:t>
    </dgm:pt>
    <dgm:pt modelId="{AE0B1045-5064-447B-AC4E-6C89C1DC5C53}" type="pres">
      <dgm:prSet presAssocID="{15C883B3-9FE0-42A0-8AFF-D27094C386F0}" presName="descendantText" presStyleLbl="alignAcc1" presStyleIdx="0" presStyleCnt="3">
        <dgm:presLayoutVars>
          <dgm:bulletEnabled val="1"/>
        </dgm:presLayoutVars>
      </dgm:prSet>
      <dgm:spPr/>
      <dgm:t>
        <a:bodyPr/>
        <a:lstStyle/>
        <a:p>
          <a:endParaRPr lang="en-US"/>
        </a:p>
      </dgm:t>
    </dgm:pt>
    <dgm:pt modelId="{F9FAE28C-D52B-4C62-93AE-C8184991D7C0}" type="pres">
      <dgm:prSet presAssocID="{E0CEF305-87FC-4A17-910D-418775E70E3A}" presName="sp" presStyleCnt="0"/>
      <dgm:spPr/>
    </dgm:pt>
    <dgm:pt modelId="{42A3FF6B-EE39-4E89-9E89-B4DD00839708}" type="pres">
      <dgm:prSet presAssocID="{425C03CB-1997-42EA-84DC-A12E590D0D17}" presName="composite" presStyleCnt="0"/>
      <dgm:spPr/>
    </dgm:pt>
    <dgm:pt modelId="{CC002D45-9EB2-4E38-9280-8858596074E0}" type="pres">
      <dgm:prSet presAssocID="{425C03CB-1997-42EA-84DC-A12E590D0D17}" presName="parentText" presStyleLbl="alignNode1" presStyleIdx="1" presStyleCnt="3">
        <dgm:presLayoutVars>
          <dgm:chMax val="1"/>
          <dgm:bulletEnabled val="1"/>
        </dgm:presLayoutVars>
      </dgm:prSet>
      <dgm:spPr/>
      <dgm:t>
        <a:bodyPr/>
        <a:lstStyle/>
        <a:p>
          <a:endParaRPr lang="en-US"/>
        </a:p>
      </dgm:t>
    </dgm:pt>
    <dgm:pt modelId="{D33DC2AA-34B9-481F-BAF5-D28E6505C9FB}" type="pres">
      <dgm:prSet presAssocID="{425C03CB-1997-42EA-84DC-A12E590D0D17}" presName="descendantText" presStyleLbl="alignAcc1" presStyleIdx="1" presStyleCnt="3">
        <dgm:presLayoutVars>
          <dgm:bulletEnabled val="1"/>
        </dgm:presLayoutVars>
      </dgm:prSet>
      <dgm:spPr/>
      <dgm:t>
        <a:bodyPr/>
        <a:lstStyle/>
        <a:p>
          <a:endParaRPr lang="en-US"/>
        </a:p>
      </dgm:t>
    </dgm:pt>
    <dgm:pt modelId="{53F29E74-97B1-47AC-817B-181619C2F673}" type="pres">
      <dgm:prSet presAssocID="{3CBE3BA1-3F14-491E-9C41-E403EFD34EF0}" presName="sp" presStyleCnt="0"/>
      <dgm:spPr/>
    </dgm:pt>
    <dgm:pt modelId="{BD4798EE-7AD8-461A-8EAD-E0E2E91C9D31}" type="pres">
      <dgm:prSet presAssocID="{6D474DA2-3AF0-4E53-BD24-04D6D62937EC}" presName="composite" presStyleCnt="0"/>
      <dgm:spPr/>
    </dgm:pt>
    <dgm:pt modelId="{8C6C6550-7A1B-400A-BFC3-451920DEFB89}" type="pres">
      <dgm:prSet presAssocID="{6D474DA2-3AF0-4E53-BD24-04D6D62937EC}" presName="parentText" presStyleLbl="alignNode1" presStyleIdx="2" presStyleCnt="3">
        <dgm:presLayoutVars>
          <dgm:chMax val="1"/>
          <dgm:bulletEnabled val="1"/>
        </dgm:presLayoutVars>
      </dgm:prSet>
      <dgm:spPr/>
      <dgm:t>
        <a:bodyPr/>
        <a:lstStyle/>
        <a:p>
          <a:endParaRPr lang="en-US"/>
        </a:p>
      </dgm:t>
    </dgm:pt>
    <dgm:pt modelId="{74783044-047A-456A-83F7-09D9A37473CA}" type="pres">
      <dgm:prSet presAssocID="{6D474DA2-3AF0-4E53-BD24-04D6D62937EC}" presName="descendantText" presStyleLbl="alignAcc1" presStyleIdx="2" presStyleCnt="3">
        <dgm:presLayoutVars>
          <dgm:bulletEnabled val="1"/>
        </dgm:presLayoutVars>
      </dgm:prSet>
      <dgm:spPr/>
      <dgm:t>
        <a:bodyPr/>
        <a:lstStyle/>
        <a:p>
          <a:endParaRPr lang="en-US"/>
        </a:p>
      </dgm:t>
    </dgm:pt>
  </dgm:ptLst>
  <dgm:cxnLst>
    <dgm:cxn modelId="{8FED8170-1C9E-4E04-BDD7-BAC4D26A473B}" type="presOf" srcId="{425C03CB-1997-42EA-84DC-A12E590D0D17}" destId="{CC002D45-9EB2-4E38-9280-8858596074E0}" srcOrd="0" destOrd="0" presId="urn:microsoft.com/office/officeart/2005/8/layout/chevron2"/>
    <dgm:cxn modelId="{4F8CDB27-9D06-4946-A03C-F89CC9DEA02D}" type="presOf" srcId="{2A955894-D780-438A-B539-45B2834298BB}" destId="{AE0B1045-5064-447B-AC4E-6C89C1DC5C53}" srcOrd="0" destOrd="0" presId="urn:microsoft.com/office/officeart/2005/8/layout/chevron2"/>
    <dgm:cxn modelId="{72CCCC7A-B29A-48BC-87F3-14F52AE2E627}" srcId="{7BB42D72-0C15-4B9E-A77F-8E005B2C84D1}" destId="{425C03CB-1997-42EA-84DC-A12E590D0D17}" srcOrd="1" destOrd="0" parTransId="{F1DB87F8-0A69-442F-8699-61DE1E68415B}" sibTransId="{3CBE3BA1-3F14-491E-9C41-E403EFD34EF0}"/>
    <dgm:cxn modelId="{57587F2D-04A9-4D3C-90BA-B775F11151D3}" srcId="{7BB42D72-0C15-4B9E-A77F-8E005B2C84D1}" destId="{6D474DA2-3AF0-4E53-BD24-04D6D62937EC}" srcOrd="2" destOrd="0" parTransId="{09DCADEE-64D2-443B-9F55-B0A88392DF0A}" sibTransId="{2160646A-E458-411A-89FE-60D16E9715DC}"/>
    <dgm:cxn modelId="{0C07B7E3-9487-4C3A-B67B-EFA89DBC9514}" srcId="{7BB42D72-0C15-4B9E-A77F-8E005B2C84D1}" destId="{15C883B3-9FE0-42A0-8AFF-D27094C386F0}" srcOrd="0" destOrd="0" parTransId="{6E9B140A-4BC4-4613-AB50-F36D3C6EC568}" sibTransId="{E0CEF305-87FC-4A17-910D-418775E70E3A}"/>
    <dgm:cxn modelId="{22087B42-64C8-471C-AA0C-83AC3A27C2EA}" srcId="{15C883B3-9FE0-42A0-8AFF-D27094C386F0}" destId="{2A955894-D780-438A-B539-45B2834298BB}" srcOrd="0" destOrd="0" parTransId="{74FC8FDA-DDBD-447F-8830-46CCD5B1005E}" sibTransId="{FCD6FC2A-0827-4C42-9FEF-B2DCAC0D1F90}"/>
    <dgm:cxn modelId="{565A740C-00F1-4927-AABA-58ACA8FFEBEE}" type="presOf" srcId="{6D474DA2-3AF0-4E53-BD24-04D6D62937EC}" destId="{8C6C6550-7A1B-400A-BFC3-451920DEFB89}" srcOrd="0" destOrd="0" presId="urn:microsoft.com/office/officeart/2005/8/layout/chevron2"/>
    <dgm:cxn modelId="{509C6564-8519-4E6B-9EA8-17691651E7E7}" srcId="{425C03CB-1997-42EA-84DC-A12E590D0D17}" destId="{4AB03AD9-AA1A-4060-B764-529D4919BA53}" srcOrd="0" destOrd="0" parTransId="{BB255443-04DC-4930-A605-ACE361AF37B1}" sibTransId="{E6135F85-9BBA-45FA-9CC9-DB1E001093DE}"/>
    <dgm:cxn modelId="{23AA7AC8-4B67-43E9-BDBF-D29F2D4CAABB}" srcId="{15C883B3-9FE0-42A0-8AFF-D27094C386F0}" destId="{585B1731-9BD5-4330-AABF-D5B32263AFE5}" srcOrd="1" destOrd="0" parTransId="{2A48E09A-A91A-4AED-B623-8A7CDF57F286}" sibTransId="{9C0B4097-2936-42D5-9326-FF47BA8B78C5}"/>
    <dgm:cxn modelId="{A637B33D-2F36-4538-87EF-38D508372C4C}" type="presOf" srcId="{E74DA955-77E7-4960-BD5A-069339CA1E7C}" destId="{74783044-047A-456A-83F7-09D9A37473CA}" srcOrd="0" destOrd="1" presId="urn:microsoft.com/office/officeart/2005/8/layout/chevron2"/>
    <dgm:cxn modelId="{DB61473E-0A7E-417C-9703-20D5C49D8733}" type="presOf" srcId="{15C883B3-9FE0-42A0-8AFF-D27094C386F0}" destId="{482B6B60-FA51-46C0-910F-72F970FA04B2}" srcOrd="0" destOrd="0" presId="urn:microsoft.com/office/officeart/2005/8/layout/chevron2"/>
    <dgm:cxn modelId="{13992EA8-0A81-4E20-9221-93F1DBAFE6CB}" type="presOf" srcId="{585B1731-9BD5-4330-AABF-D5B32263AFE5}" destId="{AE0B1045-5064-447B-AC4E-6C89C1DC5C53}" srcOrd="0" destOrd="1" presId="urn:microsoft.com/office/officeart/2005/8/layout/chevron2"/>
    <dgm:cxn modelId="{FA4B5685-9FA7-4F0B-BE69-C07D506FAE1D}" type="presOf" srcId="{4AB03AD9-AA1A-4060-B764-529D4919BA53}" destId="{D33DC2AA-34B9-481F-BAF5-D28E6505C9FB}" srcOrd="0" destOrd="0" presId="urn:microsoft.com/office/officeart/2005/8/layout/chevron2"/>
    <dgm:cxn modelId="{F3CCC077-9943-471B-9B42-BCA6D55B05FC}" type="presOf" srcId="{063F4BB9-6EAD-435F-A38E-889EE365B00B}" destId="{D33DC2AA-34B9-481F-BAF5-D28E6505C9FB}" srcOrd="0" destOrd="1" presId="urn:microsoft.com/office/officeart/2005/8/layout/chevron2"/>
    <dgm:cxn modelId="{12D9B0D6-8676-4E95-8AD0-F0609A3AA67B}" type="presOf" srcId="{372A1154-99A5-4BA1-A4E0-73A8E851C712}" destId="{74783044-047A-456A-83F7-09D9A37473CA}" srcOrd="0" destOrd="0" presId="urn:microsoft.com/office/officeart/2005/8/layout/chevron2"/>
    <dgm:cxn modelId="{3695EEA9-4D4D-4303-90E7-ABFFB3701009}" srcId="{425C03CB-1997-42EA-84DC-A12E590D0D17}" destId="{063F4BB9-6EAD-435F-A38E-889EE365B00B}" srcOrd="1" destOrd="0" parTransId="{A7C6F021-366A-4D63-B8B6-27A9F8090632}" sibTransId="{DD4D80F9-DF64-4D1F-87F4-1E5963C4D23E}"/>
    <dgm:cxn modelId="{73DF3658-877A-421D-BA82-47FF5B71E690}" srcId="{6D474DA2-3AF0-4E53-BD24-04D6D62937EC}" destId="{372A1154-99A5-4BA1-A4E0-73A8E851C712}" srcOrd="0" destOrd="0" parTransId="{47DCE101-DA59-4E65-9260-CEEB1B36AEB8}" sibTransId="{6349C405-F7E9-4B14-A9A2-17A3CEAE42D7}"/>
    <dgm:cxn modelId="{CFD403FE-012B-4F95-B677-FA90EA69227C}" type="presOf" srcId="{7BB42D72-0C15-4B9E-A77F-8E005B2C84D1}" destId="{D7D39375-D6DF-4152-8E78-5F7C89D35211}" srcOrd="0" destOrd="0" presId="urn:microsoft.com/office/officeart/2005/8/layout/chevron2"/>
    <dgm:cxn modelId="{95B5DE08-63CF-4970-B3DE-6B6F0C331420}" srcId="{6D474DA2-3AF0-4E53-BD24-04D6D62937EC}" destId="{E74DA955-77E7-4960-BD5A-069339CA1E7C}" srcOrd="1" destOrd="0" parTransId="{F5CFB12E-B7FE-4693-B913-2504A18E2561}" sibTransId="{BED64803-0A07-428E-9B2E-80C43C1BDCBD}"/>
    <dgm:cxn modelId="{1697C0CD-E0A4-45C9-B428-89FAA00F8E90}" type="presParOf" srcId="{D7D39375-D6DF-4152-8E78-5F7C89D35211}" destId="{CC7E7727-2B1A-47AA-B791-7A4DB3449C2E}" srcOrd="0" destOrd="0" presId="urn:microsoft.com/office/officeart/2005/8/layout/chevron2"/>
    <dgm:cxn modelId="{14186742-CD4C-4B03-9A13-80BA1A0252A7}" type="presParOf" srcId="{CC7E7727-2B1A-47AA-B791-7A4DB3449C2E}" destId="{482B6B60-FA51-46C0-910F-72F970FA04B2}" srcOrd="0" destOrd="0" presId="urn:microsoft.com/office/officeart/2005/8/layout/chevron2"/>
    <dgm:cxn modelId="{D5A9BF10-A94A-4C46-BC83-92B6EC2AEE20}" type="presParOf" srcId="{CC7E7727-2B1A-47AA-B791-7A4DB3449C2E}" destId="{AE0B1045-5064-447B-AC4E-6C89C1DC5C53}" srcOrd="1" destOrd="0" presId="urn:microsoft.com/office/officeart/2005/8/layout/chevron2"/>
    <dgm:cxn modelId="{96FE03C0-C812-4608-8238-9C60A0BEABAD}" type="presParOf" srcId="{D7D39375-D6DF-4152-8E78-5F7C89D35211}" destId="{F9FAE28C-D52B-4C62-93AE-C8184991D7C0}" srcOrd="1" destOrd="0" presId="urn:microsoft.com/office/officeart/2005/8/layout/chevron2"/>
    <dgm:cxn modelId="{CB04C3B0-DC6C-4E43-ADC4-84A68F653DF8}" type="presParOf" srcId="{D7D39375-D6DF-4152-8E78-5F7C89D35211}" destId="{42A3FF6B-EE39-4E89-9E89-B4DD00839708}" srcOrd="2" destOrd="0" presId="urn:microsoft.com/office/officeart/2005/8/layout/chevron2"/>
    <dgm:cxn modelId="{82459B50-863F-4F66-8469-5844029F560F}" type="presParOf" srcId="{42A3FF6B-EE39-4E89-9E89-B4DD00839708}" destId="{CC002D45-9EB2-4E38-9280-8858596074E0}" srcOrd="0" destOrd="0" presId="urn:microsoft.com/office/officeart/2005/8/layout/chevron2"/>
    <dgm:cxn modelId="{1FAD15AB-BD16-4693-9FE5-2FE7A42F5033}" type="presParOf" srcId="{42A3FF6B-EE39-4E89-9E89-B4DD00839708}" destId="{D33DC2AA-34B9-481F-BAF5-D28E6505C9FB}" srcOrd="1" destOrd="0" presId="urn:microsoft.com/office/officeart/2005/8/layout/chevron2"/>
    <dgm:cxn modelId="{0276DD3B-4B30-4674-9388-B63DBA29F5A6}" type="presParOf" srcId="{D7D39375-D6DF-4152-8E78-5F7C89D35211}" destId="{53F29E74-97B1-47AC-817B-181619C2F673}" srcOrd="3" destOrd="0" presId="urn:microsoft.com/office/officeart/2005/8/layout/chevron2"/>
    <dgm:cxn modelId="{16F10321-7CAB-4A01-876E-5DEA9D9CC660}" type="presParOf" srcId="{D7D39375-D6DF-4152-8E78-5F7C89D35211}" destId="{BD4798EE-7AD8-461A-8EAD-E0E2E91C9D31}" srcOrd="4" destOrd="0" presId="urn:microsoft.com/office/officeart/2005/8/layout/chevron2"/>
    <dgm:cxn modelId="{3CDD9E63-3063-4C3A-9CCB-2A8C44ED7EFD}" type="presParOf" srcId="{BD4798EE-7AD8-461A-8EAD-E0E2E91C9D31}" destId="{8C6C6550-7A1B-400A-BFC3-451920DEFB89}" srcOrd="0" destOrd="0" presId="urn:microsoft.com/office/officeart/2005/8/layout/chevron2"/>
    <dgm:cxn modelId="{55B48380-9741-4218-A32E-0EBD5A37006C}" type="presParOf" srcId="{BD4798EE-7AD8-461A-8EAD-E0E2E91C9D31}" destId="{74783044-047A-456A-83F7-09D9A37473C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B42D72-0C15-4B9E-A77F-8E005B2C84D1}" type="doc">
      <dgm:prSet loTypeId="urn:microsoft.com/office/officeart/2005/8/layout/chevron2" loCatId="list" qsTypeId="urn:microsoft.com/office/officeart/2005/8/quickstyle/simple1#2" qsCatId="simple" csTypeId="urn:microsoft.com/office/officeart/2005/8/colors/accent1_2#2" csCatId="accent1" phldr="1"/>
      <dgm:spPr/>
      <dgm:t>
        <a:bodyPr/>
        <a:lstStyle/>
        <a:p>
          <a:endParaRPr lang="en-IN"/>
        </a:p>
      </dgm:t>
    </dgm:pt>
    <dgm:pt modelId="{15C883B3-9FE0-42A0-8AFF-D27094C386F0}">
      <dgm:prSet phldrT="[Text]" custT="1"/>
      <dgm:spPr/>
      <dgm:t>
        <a:bodyPr/>
        <a:lstStyle/>
        <a:p>
          <a:r>
            <a:rPr lang="en-IN" sz="1200">
              <a:latin typeface="Times New Roman" panose="02020603050405020304" charset="0"/>
              <a:cs typeface="Times New Roman" panose="02020603050405020304" charset="0"/>
            </a:rPr>
            <a:t>Stage 4</a:t>
          </a:r>
        </a:p>
      </dgm:t>
    </dgm:pt>
    <dgm:pt modelId="{6E9B140A-4BC4-4613-AB50-F36D3C6EC568}" type="parTrans" cxnId="{0C07B7E3-9487-4C3A-B67B-EFA89DBC9514}">
      <dgm:prSet/>
      <dgm:spPr/>
      <dgm:t>
        <a:bodyPr/>
        <a:lstStyle/>
        <a:p>
          <a:endParaRPr lang="en-IN"/>
        </a:p>
      </dgm:t>
    </dgm:pt>
    <dgm:pt modelId="{E0CEF305-87FC-4A17-910D-418775E70E3A}" type="sibTrans" cxnId="{0C07B7E3-9487-4C3A-B67B-EFA89DBC9514}">
      <dgm:prSet/>
      <dgm:spPr/>
      <dgm:t>
        <a:bodyPr/>
        <a:lstStyle/>
        <a:p>
          <a:endParaRPr lang="en-IN"/>
        </a:p>
      </dgm:t>
    </dgm:pt>
    <dgm:pt modelId="{2A955894-D780-438A-B539-45B2834298BB}">
      <dgm:prSet phldrT="[Text]" custT="1"/>
      <dgm:spPr/>
      <dgm:t>
        <a:bodyPr/>
        <a:lstStyle/>
        <a:p>
          <a:r>
            <a:rPr lang="en-US" sz="1200">
              <a:latin typeface="Times New Roman" panose="02020603050405020304" charset="0"/>
              <a:cs typeface="Times New Roman" panose="02020603050405020304" charset="0"/>
            </a:rPr>
            <a:t>The Analysis of the components will be done with the help of ANSYS using FEA.</a:t>
          </a:r>
          <a:endParaRPr lang="en-IN" sz="1200">
            <a:latin typeface="Times New Roman" panose="02020603050405020304" charset="0"/>
            <a:cs typeface="Times New Roman" panose="02020603050405020304" charset="0"/>
          </a:endParaRPr>
        </a:p>
      </dgm:t>
    </dgm:pt>
    <dgm:pt modelId="{74FC8FDA-DDBD-447F-8830-46CCD5B1005E}" type="parTrans" cxnId="{22087B42-64C8-471C-AA0C-83AC3A27C2EA}">
      <dgm:prSet/>
      <dgm:spPr/>
      <dgm:t>
        <a:bodyPr/>
        <a:lstStyle/>
        <a:p>
          <a:endParaRPr lang="en-IN"/>
        </a:p>
      </dgm:t>
    </dgm:pt>
    <dgm:pt modelId="{FCD6FC2A-0827-4C42-9FEF-B2DCAC0D1F90}" type="sibTrans" cxnId="{22087B42-64C8-471C-AA0C-83AC3A27C2EA}">
      <dgm:prSet/>
      <dgm:spPr/>
      <dgm:t>
        <a:bodyPr/>
        <a:lstStyle/>
        <a:p>
          <a:endParaRPr lang="en-IN"/>
        </a:p>
      </dgm:t>
    </dgm:pt>
    <dgm:pt modelId="{585B1731-9BD5-4330-AABF-D5B32263AFE5}">
      <dgm:prSet phldrT="[Text]" custT="1"/>
      <dgm:spPr/>
      <dgm:t>
        <a:bodyPr/>
        <a:lstStyle/>
        <a:p>
          <a:r>
            <a:rPr lang="en-US" sz="1200">
              <a:latin typeface="Times New Roman" panose="02020603050405020304" charset="0"/>
              <a:cs typeface="Times New Roman" panose="02020603050405020304" charset="0"/>
            </a:rPr>
            <a:t>The experimental observations will be taken on compenent.</a:t>
          </a:r>
          <a:endParaRPr lang="en-IN" sz="1200">
            <a:latin typeface="Times New Roman" panose="02020603050405020304" charset="0"/>
            <a:cs typeface="Times New Roman" panose="02020603050405020304" charset="0"/>
          </a:endParaRPr>
        </a:p>
      </dgm:t>
    </dgm:pt>
    <dgm:pt modelId="{2A48E09A-A91A-4AED-B623-8A7CDF57F286}" type="parTrans" cxnId="{23AA7AC8-4B67-43E9-BDBF-D29F2D4CAABB}">
      <dgm:prSet/>
      <dgm:spPr/>
      <dgm:t>
        <a:bodyPr/>
        <a:lstStyle/>
        <a:p>
          <a:endParaRPr lang="en-IN"/>
        </a:p>
      </dgm:t>
    </dgm:pt>
    <dgm:pt modelId="{9C0B4097-2936-42D5-9326-FF47BA8B78C5}" type="sibTrans" cxnId="{23AA7AC8-4B67-43E9-BDBF-D29F2D4CAABB}">
      <dgm:prSet/>
      <dgm:spPr/>
      <dgm:t>
        <a:bodyPr/>
        <a:lstStyle/>
        <a:p>
          <a:endParaRPr lang="en-IN"/>
        </a:p>
      </dgm:t>
    </dgm:pt>
    <dgm:pt modelId="{425C03CB-1997-42EA-84DC-A12E590D0D17}">
      <dgm:prSet phldrT="[Text]" custT="1"/>
      <dgm:spPr/>
      <dgm:t>
        <a:bodyPr/>
        <a:lstStyle/>
        <a:p>
          <a:r>
            <a:rPr lang="en-IN" sz="1200">
              <a:latin typeface="Times New Roman" panose="02020603050405020304" charset="0"/>
              <a:cs typeface="Times New Roman" panose="02020603050405020304" charset="0"/>
            </a:rPr>
            <a:t>Stage 5</a:t>
          </a:r>
        </a:p>
      </dgm:t>
    </dgm:pt>
    <dgm:pt modelId="{F1DB87F8-0A69-442F-8699-61DE1E68415B}" type="parTrans" cxnId="{72CCCC7A-B29A-48BC-87F3-14F52AE2E627}">
      <dgm:prSet/>
      <dgm:spPr/>
      <dgm:t>
        <a:bodyPr/>
        <a:lstStyle/>
        <a:p>
          <a:endParaRPr lang="en-IN"/>
        </a:p>
      </dgm:t>
    </dgm:pt>
    <dgm:pt modelId="{3CBE3BA1-3F14-491E-9C41-E403EFD34EF0}" type="sibTrans" cxnId="{72CCCC7A-B29A-48BC-87F3-14F52AE2E627}">
      <dgm:prSet/>
      <dgm:spPr/>
      <dgm:t>
        <a:bodyPr/>
        <a:lstStyle/>
        <a:p>
          <a:endParaRPr lang="en-IN"/>
        </a:p>
      </dgm:t>
    </dgm:pt>
    <dgm:pt modelId="{4AB03AD9-AA1A-4060-B764-529D4919BA53}">
      <dgm:prSet phldrT="[Text]" custT="1"/>
      <dgm:spPr/>
      <dgm:t>
        <a:bodyPr/>
        <a:lstStyle/>
        <a:p>
          <a:pPr>
            <a:buFont typeface="Symbol" panose="05050102010706020507" pitchFamily="1" charset="2"/>
            <a:buChar char=""/>
          </a:pPr>
          <a:r>
            <a:rPr lang="en-US" sz="1200">
              <a:latin typeface="Times New Roman" panose="02020603050405020304" charset="0"/>
              <a:cs typeface="Times New Roman" panose="02020603050405020304" charset="0"/>
            </a:rPr>
            <a:t>Meshing the CAD model and applying the boundary conditions.</a:t>
          </a:r>
          <a:endParaRPr lang="en-IN" sz="1200">
            <a:latin typeface="Times New Roman" panose="02020603050405020304" charset="0"/>
            <a:cs typeface="Times New Roman" panose="02020603050405020304" charset="0"/>
          </a:endParaRPr>
        </a:p>
      </dgm:t>
    </dgm:pt>
    <dgm:pt modelId="{BB255443-04DC-4930-A605-ACE361AF37B1}" type="parTrans" cxnId="{509C6564-8519-4E6B-9EA8-17691651E7E7}">
      <dgm:prSet/>
      <dgm:spPr/>
      <dgm:t>
        <a:bodyPr/>
        <a:lstStyle/>
        <a:p>
          <a:endParaRPr lang="en-IN"/>
        </a:p>
      </dgm:t>
    </dgm:pt>
    <dgm:pt modelId="{E6135F85-9BBA-45FA-9CC9-DB1E001093DE}" type="sibTrans" cxnId="{509C6564-8519-4E6B-9EA8-17691651E7E7}">
      <dgm:prSet/>
      <dgm:spPr/>
      <dgm:t>
        <a:bodyPr/>
        <a:lstStyle/>
        <a:p>
          <a:endParaRPr lang="en-IN"/>
        </a:p>
      </dgm:t>
    </dgm:pt>
    <dgm:pt modelId="{6D474DA2-3AF0-4E53-BD24-04D6D62937EC}">
      <dgm:prSet phldrT="[Text]" custT="1"/>
      <dgm:spPr/>
      <dgm:t>
        <a:bodyPr/>
        <a:lstStyle/>
        <a:p>
          <a:r>
            <a:rPr lang="en-IN" sz="1800">
              <a:latin typeface="Times New Roman" panose="02020603050405020304" charset="0"/>
              <a:cs typeface="Times New Roman" panose="02020603050405020304" charset="0"/>
            </a:rPr>
            <a:t>Stage 6</a:t>
          </a:r>
        </a:p>
      </dgm:t>
    </dgm:pt>
    <dgm:pt modelId="{09DCADEE-64D2-443B-9F55-B0A88392DF0A}" type="parTrans" cxnId="{57587F2D-04A9-4D3C-90BA-B775F11151D3}">
      <dgm:prSet/>
      <dgm:spPr/>
      <dgm:t>
        <a:bodyPr/>
        <a:lstStyle/>
        <a:p>
          <a:endParaRPr lang="en-IN"/>
        </a:p>
      </dgm:t>
    </dgm:pt>
    <dgm:pt modelId="{2160646A-E458-411A-89FE-60D16E9715DC}" type="sibTrans" cxnId="{57587F2D-04A9-4D3C-90BA-B775F11151D3}">
      <dgm:prSet/>
      <dgm:spPr/>
      <dgm:t>
        <a:bodyPr/>
        <a:lstStyle/>
        <a:p>
          <a:endParaRPr lang="en-IN"/>
        </a:p>
      </dgm:t>
    </dgm:pt>
    <dgm:pt modelId="{372A1154-99A5-4BA1-A4E0-73A8E851C712}">
      <dgm:prSet phldrT="[Text]" custT="1"/>
      <dgm:spPr/>
      <dgm:t>
        <a:bodyPr/>
        <a:lstStyle/>
        <a:p>
          <a:pPr>
            <a:buFont typeface="Symbol" panose="05050102010706020507" pitchFamily="1" charset="2"/>
            <a:buChar char=""/>
          </a:pPr>
          <a:r>
            <a:rPr lang="en-US" sz="1200">
              <a:latin typeface="Times New Roman" panose="02020603050405020304" charset="0"/>
              <a:cs typeface="Times New Roman" panose="02020603050405020304" charset="0"/>
            </a:rPr>
            <a:t>Fabrication of specimen</a:t>
          </a:r>
          <a:endParaRPr lang="en-IN" sz="1200">
            <a:latin typeface="Times New Roman" panose="02020603050405020304" charset="0"/>
            <a:cs typeface="Times New Roman" panose="02020603050405020304" charset="0"/>
          </a:endParaRPr>
        </a:p>
      </dgm:t>
    </dgm:pt>
    <dgm:pt modelId="{47DCE101-DA59-4E65-9260-CEEB1B36AEB8}" type="parTrans" cxnId="{73DF3658-877A-421D-BA82-47FF5B71E690}">
      <dgm:prSet/>
      <dgm:spPr/>
      <dgm:t>
        <a:bodyPr/>
        <a:lstStyle/>
        <a:p>
          <a:endParaRPr lang="en-IN"/>
        </a:p>
      </dgm:t>
    </dgm:pt>
    <dgm:pt modelId="{6349C405-F7E9-4B14-A9A2-17A3CEAE42D7}" type="sibTrans" cxnId="{73DF3658-877A-421D-BA82-47FF5B71E690}">
      <dgm:prSet/>
      <dgm:spPr/>
      <dgm:t>
        <a:bodyPr/>
        <a:lstStyle/>
        <a:p>
          <a:endParaRPr lang="en-IN"/>
        </a:p>
      </dgm:t>
    </dgm:pt>
    <dgm:pt modelId="{6E299465-5CB5-4C5E-83F9-CBCC1B6B4DDC}">
      <dgm:prSet custT="1"/>
      <dgm:spPr/>
      <dgm:t>
        <a:bodyPr/>
        <a:lstStyle/>
        <a:p>
          <a:pPr>
            <a:buFont typeface="Symbol" panose="05050102010706020507" pitchFamily="1" charset="2"/>
            <a:buChar char=""/>
          </a:pPr>
          <a:r>
            <a:rPr lang="en-US" sz="1200">
              <a:latin typeface="Times New Roman" panose="02020603050405020304" charset="0"/>
              <a:cs typeface="Times New Roman" panose="02020603050405020304" charset="0"/>
            </a:rPr>
            <a:t>Solve for the solution of meshed model using ANSYS.</a:t>
          </a:r>
          <a:endParaRPr lang="en-IN" sz="1200">
            <a:latin typeface="Times New Roman" panose="02020603050405020304" charset="0"/>
            <a:cs typeface="Times New Roman" panose="02020603050405020304" charset="0"/>
          </a:endParaRPr>
        </a:p>
      </dgm:t>
    </dgm:pt>
    <dgm:pt modelId="{F1611FDA-A4BC-49F1-BABA-40617454385B}" type="parTrans" cxnId="{FF89F2EF-A2AA-4B56-B501-4A531709783C}">
      <dgm:prSet/>
      <dgm:spPr/>
      <dgm:t>
        <a:bodyPr/>
        <a:lstStyle/>
        <a:p>
          <a:endParaRPr lang="en-IN"/>
        </a:p>
      </dgm:t>
    </dgm:pt>
    <dgm:pt modelId="{CDF553F4-2965-453C-9EFC-12F06EF399B1}" type="sibTrans" cxnId="{FF89F2EF-A2AA-4B56-B501-4A531709783C}">
      <dgm:prSet/>
      <dgm:spPr/>
      <dgm:t>
        <a:bodyPr/>
        <a:lstStyle/>
        <a:p>
          <a:endParaRPr lang="en-IN"/>
        </a:p>
      </dgm:t>
    </dgm:pt>
    <dgm:pt modelId="{9BA1A2DC-545E-4CF6-AE65-40957154C515}">
      <dgm:prSet custT="1"/>
      <dgm:spPr/>
      <dgm:t>
        <a:bodyPr/>
        <a:lstStyle/>
        <a:p>
          <a:pPr>
            <a:buFont typeface="Symbol" panose="05050102010706020507" pitchFamily="1" charset="2"/>
            <a:buChar char=""/>
          </a:pPr>
          <a:r>
            <a:rPr lang="en-US" sz="1200">
              <a:latin typeface="Times New Roman" panose="02020603050405020304" charset="0"/>
              <a:cs typeface="Times New Roman" panose="02020603050405020304" charset="0"/>
            </a:rPr>
            <a:t>Suitable experimentation</a:t>
          </a:r>
          <a:endParaRPr lang="en-IN" sz="1200">
            <a:latin typeface="Times New Roman" panose="02020603050405020304" charset="0"/>
            <a:cs typeface="Times New Roman" panose="02020603050405020304" charset="0"/>
          </a:endParaRPr>
        </a:p>
      </dgm:t>
    </dgm:pt>
    <dgm:pt modelId="{1BC1C8AE-A9CB-49CE-BA53-9EC5782B654C}" type="parTrans" cxnId="{E118B4FB-F53A-4DB4-9CBB-E850D171BC09}">
      <dgm:prSet/>
      <dgm:spPr/>
      <dgm:t>
        <a:bodyPr/>
        <a:lstStyle/>
        <a:p>
          <a:endParaRPr lang="en-IN"/>
        </a:p>
      </dgm:t>
    </dgm:pt>
    <dgm:pt modelId="{990E1A86-C4F3-4148-B80A-00B9F492A0AB}" type="sibTrans" cxnId="{E118B4FB-F53A-4DB4-9CBB-E850D171BC09}">
      <dgm:prSet/>
      <dgm:spPr/>
      <dgm:t>
        <a:bodyPr/>
        <a:lstStyle/>
        <a:p>
          <a:endParaRPr lang="en-IN"/>
        </a:p>
      </dgm:t>
    </dgm:pt>
    <dgm:pt modelId="{88C6ADEA-507F-4A40-9DF8-AA17AE5460DF}">
      <dgm:prSet custT="1"/>
      <dgm:spPr/>
      <dgm:t>
        <a:bodyPr/>
        <a:lstStyle/>
        <a:p>
          <a:pPr>
            <a:buFont typeface="Symbol" panose="05050102010706020507" pitchFamily="1" charset="2"/>
            <a:buChar char=""/>
          </a:pPr>
          <a:r>
            <a:rPr lang="en-US" sz="1200">
              <a:latin typeface="Times New Roman" panose="02020603050405020304" charset="0"/>
              <a:cs typeface="Times New Roman" panose="02020603050405020304" charset="0"/>
            </a:rPr>
            <a:t>Validation of result by comparing with software results.</a:t>
          </a:r>
          <a:endParaRPr lang="en-IN" sz="1200">
            <a:latin typeface="Times New Roman" panose="02020603050405020304" charset="0"/>
            <a:cs typeface="Times New Roman" panose="02020603050405020304" charset="0"/>
          </a:endParaRPr>
        </a:p>
      </dgm:t>
    </dgm:pt>
    <dgm:pt modelId="{62E8C211-4E00-4111-B711-B4EDA77D8923}" type="parTrans" cxnId="{DE2DEDD3-1171-4A79-B197-711313B1A7F5}">
      <dgm:prSet/>
      <dgm:spPr/>
      <dgm:t>
        <a:bodyPr/>
        <a:lstStyle/>
        <a:p>
          <a:endParaRPr lang="en-IN"/>
        </a:p>
      </dgm:t>
    </dgm:pt>
    <dgm:pt modelId="{636E42DF-139A-4DC8-A2EA-DC580170439D}" type="sibTrans" cxnId="{DE2DEDD3-1171-4A79-B197-711313B1A7F5}">
      <dgm:prSet/>
      <dgm:spPr/>
      <dgm:t>
        <a:bodyPr/>
        <a:lstStyle/>
        <a:p>
          <a:endParaRPr lang="en-IN"/>
        </a:p>
      </dgm:t>
    </dgm:pt>
    <dgm:pt modelId="{D7D39375-D6DF-4152-8E78-5F7C89D35211}" type="pres">
      <dgm:prSet presAssocID="{7BB42D72-0C15-4B9E-A77F-8E005B2C84D1}" presName="linearFlow" presStyleCnt="0">
        <dgm:presLayoutVars>
          <dgm:dir/>
          <dgm:animLvl val="lvl"/>
          <dgm:resizeHandles val="exact"/>
        </dgm:presLayoutVars>
      </dgm:prSet>
      <dgm:spPr/>
      <dgm:t>
        <a:bodyPr/>
        <a:lstStyle/>
        <a:p>
          <a:endParaRPr lang="en-US"/>
        </a:p>
      </dgm:t>
    </dgm:pt>
    <dgm:pt modelId="{CC7E7727-2B1A-47AA-B791-7A4DB3449C2E}" type="pres">
      <dgm:prSet presAssocID="{15C883B3-9FE0-42A0-8AFF-D27094C386F0}" presName="composite" presStyleCnt="0"/>
      <dgm:spPr/>
    </dgm:pt>
    <dgm:pt modelId="{482B6B60-FA51-46C0-910F-72F970FA04B2}" type="pres">
      <dgm:prSet presAssocID="{15C883B3-9FE0-42A0-8AFF-D27094C386F0}" presName="parentText" presStyleLbl="alignNode1" presStyleIdx="0" presStyleCnt="3">
        <dgm:presLayoutVars>
          <dgm:chMax val="1"/>
          <dgm:bulletEnabled val="1"/>
        </dgm:presLayoutVars>
      </dgm:prSet>
      <dgm:spPr/>
      <dgm:t>
        <a:bodyPr/>
        <a:lstStyle/>
        <a:p>
          <a:endParaRPr lang="en-US"/>
        </a:p>
      </dgm:t>
    </dgm:pt>
    <dgm:pt modelId="{AE0B1045-5064-447B-AC4E-6C89C1DC5C53}" type="pres">
      <dgm:prSet presAssocID="{15C883B3-9FE0-42A0-8AFF-D27094C386F0}" presName="descendantText" presStyleLbl="alignAcc1" presStyleIdx="0" presStyleCnt="3">
        <dgm:presLayoutVars>
          <dgm:bulletEnabled val="1"/>
        </dgm:presLayoutVars>
      </dgm:prSet>
      <dgm:spPr/>
      <dgm:t>
        <a:bodyPr/>
        <a:lstStyle/>
        <a:p>
          <a:endParaRPr lang="en-US"/>
        </a:p>
      </dgm:t>
    </dgm:pt>
    <dgm:pt modelId="{F9FAE28C-D52B-4C62-93AE-C8184991D7C0}" type="pres">
      <dgm:prSet presAssocID="{E0CEF305-87FC-4A17-910D-418775E70E3A}" presName="sp" presStyleCnt="0"/>
      <dgm:spPr/>
    </dgm:pt>
    <dgm:pt modelId="{42A3FF6B-EE39-4E89-9E89-B4DD00839708}" type="pres">
      <dgm:prSet presAssocID="{425C03CB-1997-42EA-84DC-A12E590D0D17}" presName="composite" presStyleCnt="0"/>
      <dgm:spPr/>
    </dgm:pt>
    <dgm:pt modelId="{CC002D45-9EB2-4E38-9280-8858596074E0}" type="pres">
      <dgm:prSet presAssocID="{425C03CB-1997-42EA-84DC-A12E590D0D17}" presName="parentText" presStyleLbl="alignNode1" presStyleIdx="1" presStyleCnt="3">
        <dgm:presLayoutVars>
          <dgm:chMax val="1"/>
          <dgm:bulletEnabled val="1"/>
        </dgm:presLayoutVars>
      </dgm:prSet>
      <dgm:spPr/>
      <dgm:t>
        <a:bodyPr/>
        <a:lstStyle/>
        <a:p>
          <a:endParaRPr lang="en-US"/>
        </a:p>
      </dgm:t>
    </dgm:pt>
    <dgm:pt modelId="{D33DC2AA-34B9-481F-BAF5-D28E6505C9FB}" type="pres">
      <dgm:prSet presAssocID="{425C03CB-1997-42EA-84DC-A12E590D0D17}" presName="descendantText" presStyleLbl="alignAcc1" presStyleIdx="1" presStyleCnt="3">
        <dgm:presLayoutVars>
          <dgm:bulletEnabled val="1"/>
        </dgm:presLayoutVars>
      </dgm:prSet>
      <dgm:spPr/>
      <dgm:t>
        <a:bodyPr/>
        <a:lstStyle/>
        <a:p>
          <a:endParaRPr lang="en-US"/>
        </a:p>
      </dgm:t>
    </dgm:pt>
    <dgm:pt modelId="{53F29E74-97B1-47AC-817B-181619C2F673}" type="pres">
      <dgm:prSet presAssocID="{3CBE3BA1-3F14-491E-9C41-E403EFD34EF0}" presName="sp" presStyleCnt="0"/>
      <dgm:spPr/>
    </dgm:pt>
    <dgm:pt modelId="{BD4798EE-7AD8-461A-8EAD-E0E2E91C9D31}" type="pres">
      <dgm:prSet presAssocID="{6D474DA2-3AF0-4E53-BD24-04D6D62937EC}" presName="composite" presStyleCnt="0"/>
      <dgm:spPr/>
    </dgm:pt>
    <dgm:pt modelId="{8C6C6550-7A1B-400A-BFC3-451920DEFB89}" type="pres">
      <dgm:prSet presAssocID="{6D474DA2-3AF0-4E53-BD24-04D6D62937EC}" presName="parentText" presStyleLbl="alignNode1" presStyleIdx="2" presStyleCnt="3">
        <dgm:presLayoutVars>
          <dgm:chMax val="1"/>
          <dgm:bulletEnabled val="1"/>
        </dgm:presLayoutVars>
      </dgm:prSet>
      <dgm:spPr/>
      <dgm:t>
        <a:bodyPr/>
        <a:lstStyle/>
        <a:p>
          <a:endParaRPr lang="en-US"/>
        </a:p>
      </dgm:t>
    </dgm:pt>
    <dgm:pt modelId="{74783044-047A-456A-83F7-09D9A37473CA}" type="pres">
      <dgm:prSet presAssocID="{6D474DA2-3AF0-4E53-BD24-04D6D62937EC}" presName="descendantText" presStyleLbl="alignAcc1" presStyleIdx="2" presStyleCnt="3">
        <dgm:presLayoutVars>
          <dgm:bulletEnabled val="1"/>
        </dgm:presLayoutVars>
      </dgm:prSet>
      <dgm:spPr/>
      <dgm:t>
        <a:bodyPr/>
        <a:lstStyle/>
        <a:p>
          <a:endParaRPr lang="en-US"/>
        </a:p>
      </dgm:t>
    </dgm:pt>
  </dgm:ptLst>
  <dgm:cxnLst>
    <dgm:cxn modelId="{E118B4FB-F53A-4DB4-9CBB-E850D171BC09}" srcId="{6D474DA2-3AF0-4E53-BD24-04D6D62937EC}" destId="{9BA1A2DC-545E-4CF6-AE65-40957154C515}" srcOrd="1" destOrd="0" parTransId="{1BC1C8AE-A9CB-49CE-BA53-9EC5782B654C}" sibTransId="{990E1A86-C4F3-4148-B80A-00B9F492A0AB}"/>
    <dgm:cxn modelId="{0C0BAECC-7C79-47BB-8796-951E5F92BA2F}" type="presOf" srcId="{372A1154-99A5-4BA1-A4E0-73A8E851C712}" destId="{74783044-047A-456A-83F7-09D9A37473CA}" srcOrd="0" destOrd="0" presId="urn:microsoft.com/office/officeart/2005/8/layout/chevron2"/>
    <dgm:cxn modelId="{C43281EE-251E-4394-8585-7A4193BAC3FC}" type="presOf" srcId="{7BB42D72-0C15-4B9E-A77F-8E005B2C84D1}" destId="{D7D39375-D6DF-4152-8E78-5F7C89D35211}" srcOrd="0" destOrd="0" presId="urn:microsoft.com/office/officeart/2005/8/layout/chevron2"/>
    <dgm:cxn modelId="{57587F2D-04A9-4D3C-90BA-B775F11151D3}" srcId="{7BB42D72-0C15-4B9E-A77F-8E005B2C84D1}" destId="{6D474DA2-3AF0-4E53-BD24-04D6D62937EC}" srcOrd="2" destOrd="0" parTransId="{09DCADEE-64D2-443B-9F55-B0A88392DF0A}" sibTransId="{2160646A-E458-411A-89FE-60D16E9715DC}"/>
    <dgm:cxn modelId="{3B4EF56D-7E93-43BD-8D04-0BF00F13890B}" type="presOf" srcId="{88C6ADEA-507F-4A40-9DF8-AA17AE5460DF}" destId="{74783044-047A-456A-83F7-09D9A37473CA}" srcOrd="0" destOrd="2" presId="urn:microsoft.com/office/officeart/2005/8/layout/chevron2"/>
    <dgm:cxn modelId="{FF89F2EF-A2AA-4B56-B501-4A531709783C}" srcId="{425C03CB-1997-42EA-84DC-A12E590D0D17}" destId="{6E299465-5CB5-4C5E-83F9-CBCC1B6B4DDC}" srcOrd="1" destOrd="0" parTransId="{F1611FDA-A4BC-49F1-BABA-40617454385B}" sibTransId="{CDF553F4-2965-453C-9EFC-12F06EF399B1}"/>
    <dgm:cxn modelId="{72CCCC7A-B29A-48BC-87F3-14F52AE2E627}" srcId="{7BB42D72-0C15-4B9E-A77F-8E005B2C84D1}" destId="{425C03CB-1997-42EA-84DC-A12E590D0D17}" srcOrd="1" destOrd="0" parTransId="{F1DB87F8-0A69-442F-8699-61DE1E68415B}" sibTransId="{3CBE3BA1-3F14-491E-9C41-E403EFD34EF0}"/>
    <dgm:cxn modelId="{F4ECA6A2-3A6F-41D1-9559-C03EDD02B8A9}" type="presOf" srcId="{9BA1A2DC-545E-4CF6-AE65-40957154C515}" destId="{74783044-047A-456A-83F7-09D9A37473CA}" srcOrd="0" destOrd="1" presId="urn:microsoft.com/office/officeart/2005/8/layout/chevron2"/>
    <dgm:cxn modelId="{123E4924-601A-4D69-93FB-239DEF77D5CB}" type="presOf" srcId="{6E299465-5CB5-4C5E-83F9-CBCC1B6B4DDC}" destId="{D33DC2AA-34B9-481F-BAF5-D28E6505C9FB}" srcOrd="0" destOrd="1" presId="urn:microsoft.com/office/officeart/2005/8/layout/chevron2"/>
    <dgm:cxn modelId="{E3E40C13-6B97-4C0D-9B02-23ADF6BDBC98}" type="presOf" srcId="{425C03CB-1997-42EA-84DC-A12E590D0D17}" destId="{CC002D45-9EB2-4E38-9280-8858596074E0}" srcOrd="0" destOrd="0" presId="urn:microsoft.com/office/officeart/2005/8/layout/chevron2"/>
    <dgm:cxn modelId="{23AA7AC8-4B67-43E9-BDBF-D29F2D4CAABB}" srcId="{15C883B3-9FE0-42A0-8AFF-D27094C386F0}" destId="{585B1731-9BD5-4330-AABF-D5B32263AFE5}" srcOrd="1" destOrd="0" parTransId="{2A48E09A-A91A-4AED-B623-8A7CDF57F286}" sibTransId="{9C0B4097-2936-42D5-9326-FF47BA8B78C5}"/>
    <dgm:cxn modelId="{73DF3658-877A-421D-BA82-47FF5B71E690}" srcId="{6D474DA2-3AF0-4E53-BD24-04D6D62937EC}" destId="{372A1154-99A5-4BA1-A4E0-73A8E851C712}" srcOrd="0" destOrd="0" parTransId="{47DCE101-DA59-4E65-9260-CEEB1B36AEB8}" sibTransId="{6349C405-F7E9-4B14-A9A2-17A3CEAE42D7}"/>
    <dgm:cxn modelId="{ABE0FC3C-85CC-4CFE-AE1B-905D740F62EC}" type="presOf" srcId="{585B1731-9BD5-4330-AABF-D5B32263AFE5}" destId="{AE0B1045-5064-447B-AC4E-6C89C1DC5C53}" srcOrd="0" destOrd="1" presId="urn:microsoft.com/office/officeart/2005/8/layout/chevron2"/>
    <dgm:cxn modelId="{A35CA92C-A17E-4271-A80B-2AF2BCD8EE84}" type="presOf" srcId="{4AB03AD9-AA1A-4060-B764-529D4919BA53}" destId="{D33DC2AA-34B9-481F-BAF5-D28E6505C9FB}" srcOrd="0" destOrd="0" presId="urn:microsoft.com/office/officeart/2005/8/layout/chevron2"/>
    <dgm:cxn modelId="{D461B225-20B1-4FD8-9C16-EC934C71A394}" type="presOf" srcId="{2A955894-D780-438A-B539-45B2834298BB}" destId="{AE0B1045-5064-447B-AC4E-6C89C1DC5C53}" srcOrd="0" destOrd="0" presId="urn:microsoft.com/office/officeart/2005/8/layout/chevron2"/>
    <dgm:cxn modelId="{509C6564-8519-4E6B-9EA8-17691651E7E7}" srcId="{425C03CB-1997-42EA-84DC-A12E590D0D17}" destId="{4AB03AD9-AA1A-4060-B764-529D4919BA53}" srcOrd="0" destOrd="0" parTransId="{BB255443-04DC-4930-A605-ACE361AF37B1}" sibTransId="{E6135F85-9BBA-45FA-9CC9-DB1E001093DE}"/>
    <dgm:cxn modelId="{0C07B7E3-9487-4C3A-B67B-EFA89DBC9514}" srcId="{7BB42D72-0C15-4B9E-A77F-8E005B2C84D1}" destId="{15C883B3-9FE0-42A0-8AFF-D27094C386F0}" srcOrd="0" destOrd="0" parTransId="{6E9B140A-4BC4-4613-AB50-F36D3C6EC568}" sibTransId="{E0CEF305-87FC-4A17-910D-418775E70E3A}"/>
    <dgm:cxn modelId="{22087B42-64C8-471C-AA0C-83AC3A27C2EA}" srcId="{15C883B3-9FE0-42A0-8AFF-D27094C386F0}" destId="{2A955894-D780-438A-B539-45B2834298BB}" srcOrd="0" destOrd="0" parTransId="{74FC8FDA-DDBD-447F-8830-46CCD5B1005E}" sibTransId="{FCD6FC2A-0827-4C42-9FEF-B2DCAC0D1F90}"/>
    <dgm:cxn modelId="{DE2DEDD3-1171-4A79-B197-711313B1A7F5}" srcId="{6D474DA2-3AF0-4E53-BD24-04D6D62937EC}" destId="{88C6ADEA-507F-4A40-9DF8-AA17AE5460DF}" srcOrd="2" destOrd="0" parTransId="{62E8C211-4E00-4111-B711-B4EDA77D8923}" sibTransId="{636E42DF-139A-4DC8-A2EA-DC580170439D}"/>
    <dgm:cxn modelId="{2C28BD08-28DC-40BA-ACD5-34E76C79445A}" type="presOf" srcId="{6D474DA2-3AF0-4E53-BD24-04D6D62937EC}" destId="{8C6C6550-7A1B-400A-BFC3-451920DEFB89}" srcOrd="0" destOrd="0" presId="urn:microsoft.com/office/officeart/2005/8/layout/chevron2"/>
    <dgm:cxn modelId="{0E93E381-080D-4C37-98AC-E7CAECA66C13}" type="presOf" srcId="{15C883B3-9FE0-42A0-8AFF-D27094C386F0}" destId="{482B6B60-FA51-46C0-910F-72F970FA04B2}" srcOrd="0" destOrd="0" presId="urn:microsoft.com/office/officeart/2005/8/layout/chevron2"/>
    <dgm:cxn modelId="{A70E48AF-B963-410D-82D1-8B699B17BB56}" type="presParOf" srcId="{D7D39375-D6DF-4152-8E78-5F7C89D35211}" destId="{CC7E7727-2B1A-47AA-B791-7A4DB3449C2E}" srcOrd="0" destOrd="0" presId="urn:microsoft.com/office/officeart/2005/8/layout/chevron2"/>
    <dgm:cxn modelId="{6506CC66-CCB1-4F5E-BF40-EF31F6B795BE}" type="presParOf" srcId="{CC7E7727-2B1A-47AA-B791-7A4DB3449C2E}" destId="{482B6B60-FA51-46C0-910F-72F970FA04B2}" srcOrd="0" destOrd="0" presId="urn:microsoft.com/office/officeart/2005/8/layout/chevron2"/>
    <dgm:cxn modelId="{72B1056A-5050-47EA-A8C7-915221B18A5F}" type="presParOf" srcId="{CC7E7727-2B1A-47AA-B791-7A4DB3449C2E}" destId="{AE0B1045-5064-447B-AC4E-6C89C1DC5C53}" srcOrd="1" destOrd="0" presId="urn:microsoft.com/office/officeart/2005/8/layout/chevron2"/>
    <dgm:cxn modelId="{CBFE95B9-A76D-461B-9452-70380F6A355F}" type="presParOf" srcId="{D7D39375-D6DF-4152-8E78-5F7C89D35211}" destId="{F9FAE28C-D52B-4C62-93AE-C8184991D7C0}" srcOrd="1" destOrd="0" presId="urn:microsoft.com/office/officeart/2005/8/layout/chevron2"/>
    <dgm:cxn modelId="{1281D666-F2BC-4B59-AD19-12B42D136800}" type="presParOf" srcId="{D7D39375-D6DF-4152-8E78-5F7C89D35211}" destId="{42A3FF6B-EE39-4E89-9E89-B4DD00839708}" srcOrd="2" destOrd="0" presId="urn:microsoft.com/office/officeart/2005/8/layout/chevron2"/>
    <dgm:cxn modelId="{8ECD3096-8D9B-48DE-9FA0-EFA6A0CBC4FE}" type="presParOf" srcId="{42A3FF6B-EE39-4E89-9E89-B4DD00839708}" destId="{CC002D45-9EB2-4E38-9280-8858596074E0}" srcOrd="0" destOrd="0" presId="urn:microsoft.com/office/officeart/2005/8/layout/chevron2"/>
    <dgm:cxn modelId="{A40BCB64-00EE-4863-BD1C-76D9EB657A9F}" type="presParOf" srcId="{42A3FF6B-EE39-4E89-9E89-B4DD00839708}" destId="{D33DC2AA-34B9-481F-BAF5-D28E6505C9FB}" srcOrd="1" destOrd="0" presId="urn:microsoft.com/office/officeart/2005/8/layout/chevron2"/>
    <dgm:cxn modelId="{45B639A2-FF80-491C-9F51-DDE19F2240EC}" type="presParOf" srcId="{D7D39375-D6DF-4152-8E78-5F7C89D35211}" destId="{53F29E74-97B1-47AC-817B-181619C2F673}" srcOrd="3" destOrd="0" presId="urn:microsoft.com/office/officeart/2005/8/layout/chevron2"/>
    <dgm:cxn modelId="{CF7C1D90-5972-42BE-919C-8C0C6FB602A9}" type="presParOf" srcId="{D7D39375-D6DF-4152-8E78-5F7C89D35211}" destId="{BD4798EE-7AD8-461A-8EAD-E0E2E91C9D31}" srcOrd="4" destOrd="0" presId="urn:microsoft.com/office/officeart/2005/8/layout/chevron2"/>
    <dgm:cxn modelId="{57874A96-FCF6-4D01-AA5B-D038FF9D1A56}" type="presParOf" srcId="{BD4798EE-7AD8-461A-8EAD-E0E2E91C9D31}" destId="{8C6C6550-7A1B-400A-BFC3-451920DEFB89}" srcOrd="0" destOrd="0" presId="urn:microsoft.com/office/officeart/2005/8/layout/chevron2"/>
    <dgm:cxn modelId="{F3CE0B20-F737-4DD0-B96D-6F39DC2B6928}" type="presParOf" srcId="{BD4798EE-7AD8-461A-8EAD-E0E2E91C9D31}" destId="{74783044-047A-456A-83F7-09D9A37473C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2B6B60-FA51-46C0-910F-72F970FA04B2}">
      <dsp:nvSpPr>
        <dsp:cNvPr id="0" name=""/>
        <dsp:cNvSpPr/>
      </dsp:nvSpPr>
      <dsp:spPr>
        <a:xfrm rot="5400000">
          <a:off x="-225910" y="226738"/>
          <a:ext cx="1506068" cy="1054248"/>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a:t>Stage 1</a:t>
          </a:r>
        </a:p>
      </dsp:txBody>
      <dsp:txXfrm rot="-5400000">
        <a:off x="0" y="527952"/>
        <a:ext cx="1054248" cy="451820"/>
      </dsp:txXfrm>
    </dsp:sp>
    <dsp:sp modelId="{AE0B1045-5064-447B-AC4E-6C89C1DC5C53}">
      <dsp:nvSpPr>
        <dsp:cNvPr id="0" name=""/>
        <dsp:cNvSpPr/>
      </dsp:nvSpPr>
      <dsp:spPr>
        <a:xfrm rot="5400000">
          <a:off x="3052314" y="-1997238"/>
          <a:ext cx="978944" cy="4975076"/>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just" defTabSz="622300">
            <a:lnSpc>
              <a:spcPct val="90000"/>
            </a:lnSpc>
            <a:spcBef>
              <a:spcPct val="0"/>
            </a:spcBef>
            <a:spcAft>
              <a:spcPct val="15000"/>
            </a:spcAft>
            <a:buChar char="••"/>
          </a:pPr>
          <a:r>
            <a:rPr lang="en-US" sz="1400" kern="1200"/>
            <a:t>In this semester we started the work of this project with literature survey. </a:t>
          </a:r>
          <a:endParaRPr lang="en-IN" sz="1400" kern="1200"/>
        </a:p>
        <a:p>
          <a:pPr marL="114300" lvl="1" indent="-114300" algn="just" defTabSz="622300">
            <a:lnSpc>
              <a:spcPct val="90000"/>
            </a:lnSpc>
            <a:spcBef>
              <a:spcPct val="0"/>
            </a:spcBef>
            <a:spcAft>
              <a:spcPct val="15000"/>
            </a:spcAft>
            <a:buChar char="••"/>
          </a:pPr>
          <a:r>
            <a:rPr lang="en-US" sz="1400" kern="1200"/>
            <a:t>Gathered many research papers which are relevant to this topic</a:t>
          </a:r>
          <a:endParaRPr lang="en-IN" sz="1400" kern="1200"/>
        </a:p>
      </dsp:txBody>
      <dsp:txXfrm rot="-5400000">
        <a:off x="1054248" y="48616"/>
        <a:ext cx="4927288" cy="883368"/>
      </dsp:txXfrm>
    </dsp:sp>
    <dsp:sp modelId="{CC002D45-9EB2-4E38-9280-8858596074E0}">
      <dsp:nvSpPr>
        <dsp:cNvPr id="0" name=""/>
        <dsp:cNvSpPr/>
      </dsp:nvSpPr>
      <dsp:spPr>
        <a:xfrm rot="5400000">
          <a:off x="-225910" y="1537419"/>
          <a:ext cx="1506068" cy="1054248"/>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a:t>Stage 2</a:t>
          </a:r>
        </a:p>
      </dsp:txBody>
      <dsp:txXfrm rot="-5400000">
        <a:off x="0" y="1838633"/>
        <a:ext cx="1054248" cy="451820"/>
      </dsp:txXfrm>
    </dsp:sp>
    <dsp:sp modelId="{D33DC2AA-34B9-481F-BAF5-D28E6505C9FB}">
      <dsp:nvSpPr>
        <dsp:cNvPr id="0" name=""/>
        <dsp:cNvSpPr/>
      </dsp:nvSpPr>
      <dsp:spPr>
        <a:xfrm rot="5400000">
          <a:off x="3052314" y="-686556"/>
          <a:ext cx="978944" cy="4975076"/>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just" defTabSz="622300">
            <a:lnSpc>
              <a:spcPct val="90000"/>
            </a:lnSpc>
            <a:spcBef>
              <a:spcPct val="0"/>
            </a:spcBef>
            <a:spcAft>
              <a:spcPct val="15000"/>
            </a:spcAft>
            <a:buChar char="••"/>
          </a:pPr>
          <a:r>
            <a:rPr lang="en-US" sz="1400" kern="1200"/>
            <a:t>After gathered research paper we describe literature gap on, and identify need of project. </a:t>
          </a:r>
          <a:endParaRPr lang="en-IN" sz="1400" kern="1200"/>
        </a:p>
        <a:p>
          <a:pPr marL="114300" lvl="1" indent="-114300" algn="just" defTabSz="622300">
            <a:lnSpc>
              <a:spcPct val="90000"/>
            </a:lnSpc>
            <a:spcBef>
              <a:spcPct val="0"/>
            </a:spcBef>
            <a:spcAft>
              <a:spcPct val="15000"/>
            </a:spcAft>
            <a:buChar char="••"/>
          </a:pPr>
          <a:r>
            <a:rPr lang="en-US" sz="1400" kern="1200"/>
            <a:t>Then started work on concept design with the help of literature survey market survey.</a:t>
          </a:r>
          <a:endParaRPr lang="en-IN" sz="1400" kern="1200"/>
        </a:p>
      </dsp:txBody>
      <dsp:txXfrm rot="-5400000">
        <a:off x="1054248" y="1359298"/>
        <a:ext cx="4927288" cy="883368"/>
      </dsp:txXfrm>
    </dsp:sp>
    <dsp:sp modelId="{8C6C6550-7A1B-400A-BFC3-451920DEFB89}">
      <dsp:nvSpPr>
        <dsp:cNvPr id="0" name=""/>
        <dsp:cNvSpPr/>
      </dsp:nvSpPr>
      <dsp:spPr>
        <a:xfrm rot="5400000">
          <a:off x="-225910" y="2848101"/>
          <a:ext cx="1506068" cy="1054248"/>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a:t>Stage 3</a:t>
          </a:r>
        </a:p>
      </dsp:txBody>
      <dsp:txXfrm rot="-5400000">
        <a:off x="0" y="3149315"/>
        <a:ext cx="1054248" cy="451820"/>
      </dsp:txXfrm>
    </dsp:sp>
    <dsp:sp modelId="{74783044-047A-456A-83F7-09D9A37473CA}">
      <dsp:nvSpPr>
        <dsp:cNvPr id="0" name=""/>
        <dsp:cNvSpPr/>
      </dsp:nvSpPr>
      <dsp:spPr>
        <a:xfrm rot="5400000">
          <a:off x="3052314" y="624125"/>
          <a:ext cx="978944" cy="4975076"/>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just" defTabSz="622300">
            <a:lnSpc>
              <a:spcPct val="90000"/>
            </a:lnSpc>
            <a:spcBef>
              <a:spcPct val="0"/>
            </a:spcBef>
            <a:spcAft>
              <a:spcPct val="15000"/>
            </a:spcAft>
            <a:buChar char="••"/>
          </a:pPr>
          <a:r>
            <a:rPr lang="en-US" sz="1400" kern="1200"/>
            <a:t>After finalizing concept 3D model of project, we started work on material selection design and also discuss about component. </a:t>
          </a:r>
          <a:endParaRPr lang="en-IN" sz="1400" kern="1200"/>
        </a:p>
        <a:p>
          <a:pPr marL="114300" lvl="1" indent="-114300" algn="just" defTabSz="622300">
            <a:lnSpc>
              <a:spcPct val="90000"/>
            </a:lnSpc>
            <a:spcBef>
              <a:spcPct val="0"/>
            </a:spcBef>
            <a:spcAft>
              <a:spcPct val="15000"/>
            </a:spcAft>
            <a:buFont typeface="Symbol" panose="05050102010706020507" pitchFamily="1" charset="2"/>
            <a:buChar char="••"/>
          </a:pPr>
          <a:r>
            <a:rPr lang="en-US" sz="1400" kern="1200"/>
            <a:t>After deciding the components, the 3D Model and drafting will be done with the help of CATIA software.</a:t>
          </a:r>
          <a:endParaRPr lang="en-IN" sz="1400" kern="1200"/>
        </a:p>
      </dsp:txBody>
      <dsp:txXfrm rot="-5400000">
        <a:off x="1054248" y="2669979"/>
        <a:ext cx="4927288" cy="8833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2B6B60-FA51-46C0-910F-72F970FA04B2}">
      <dsp:nvSpPr>
        <dsp:cNvPr id="0" name=""/>
        <dsp:cNvSpPr/>
      </dsp:nvSpPr>
      <dsp:spPr>
        <a:xfrm rot="5400000">
          <a:off x="-251588" y="253099"/>
          <a:ext cx="1677255" cy="1174079"/>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kern="1200">
              <a:latin typeface="Times New Roman" panose="02020603050405020304" charset="0"/>
              <a:cs typeface="Times New Roman" panose="02020603050405020304" charset="0"/>
            </a:rPr>
            <a:t>Stage 4</a:t>
          </a:r>
        </a:p>
      </dsp:txBody>
      <dsp:txXfrm rot="-5400000">
        <a:off x="1" y="588551"/>
        <a:ext cx="1174079" cy="503176"/>
      </dsp:txXfrm>
    </dsp:sp>
    <dsp:sp modelId="{AE0B1045-5064-447B-AC4E-6C89C1DC5C53}">
      <dsp:nvSpPr>
        <dsp:cNvPr id="0" name=""/>
        <dsp:cNvSpPr/>
      </dsp:nvSpPr>
      <dsp:spPr>
        <a:xfrm rot="5400000">
          <a:off x="3051831" y="-1876241"/>
          <a:ext cx="1090216" cy="484572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a:latin typeface="Times New Roman" panose="02020603050405020304" charset="0"/>
              <a:cs typeface="Times New Roman" panose="02020603050405020304" charset="0"/>
            </a:rPr>
            <a:t>The Analysis of the components will be done with the help of ANSYS using FEA.</a:t>
          </a:r>
          <a:endParaRPr lang="en-IN" sz="1200" kern="1200">
            <a:latin typeface="Times New Roman" panose="02020603050405020304" charset="0"/>
            <a:cs typeface="Times New Roman" panose="02020603050405020304" charset="0"/>
          </a:endParaRPr>
        </a:p>
        <a:p>
          <a:pPr marL="114300" lvl="1" indent="-114300" algn="l" defTabSz="533400">
            <a:lnSpc>
              <a:spcPct val="90000"/>
            </a:lnSpc>
            <a:spcBef>
              <a:spcPct val="0"/>
            </a:spcBef>
            <a:spcAft>
              <a:spcPct val="15000"/>
            </a:spcAft>
            <a:buChar char="••"/>
          </a:pPr>
          <a:r>
            <a:rPr lang="en-US" sz="1200" kern="1200">
              <a:latin typeface="Times New Roman" panose="02020603050405020304" charset="0"/>
              <a:cs typeface="Times New Roman" panose="02020603050405020304" charset="0"/>
            </a:rPr>
            <a:t>The experimental observations will be taken on compenent.</a:t>
          </a:r>
          <a:endParaRPr lang="en-IN" sz="1200" kern="1200">
            <a:latin typeface="Times New Roman" panose="02020603050405020304" charset="0"/>
            <a:cs typeface="Times New Roman" panose="02020603050405020304" charset="0"/>
          </a:endParaRPr>
        </a:p>
      </dsp:txBody>
      <dsp:txXfrm rot="-5400000">
        <a:off x="1174079" y="54731"/>
        <a:ext cx="4792500" cy="983776"/>
      </dsp:txXfrm>
    </dsp:sp>
    <dsp:sp modelId="{CC002D45-9EB2-4E38-9280-8858596074E0}">
      <dsp:nvSpPr>
        <dsp:cNvPr id="0" name=""/>
        <dsp:cNvSpPr/>
      </dsp:nvSpPr>
      <dsp:spPr>
        <a:xfrm rot="5400000">
          <a:off x="-251588" y="1737060"/>
          <a:ext cx="1677255" cy="1174079"/>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kern="1200">
              <a:latin typeface="Times New Roman" panose="02020603050405020304" charset="0"/>
              <a:cs typeface="Times New Roman" panose="02020603050405020304" charset="0"/>
            </a:rPr>
            <a:t>Stage 5</a:t>
          </a:r>
        </a:p>
      </dsp:txBody>
      <dsp:txXfrm rot="-5400000">
        <a:off x="1" y="2072512"/>
        <a:ext cx="1174079" cy="503176"/>
      </dsp:txXfrm>
    </dsp:sp>
    <dsp:sp modelId="{D33DC2AA-34B9-481F-BAF5-D28E6505C9FB}">
      <dsp:nvSpPr>
        <dsp:cNvPr id="0" name=""/>
        <dsp:cNvSpPr/>
      </dsp:nvSpPr>
      <dsp:spPr>
        <a:xfrm rot="5400000">
          <a:off x="3051831" y="-392280"/>
          <a:ext cx="1090216" cy="484572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Symbol" panose="05050102010706020507" pitchFamily="1" charset="2"/>
            <a:buChar char="••"/>
          </a:pPr>
          <a:r>
            <a:rPr lang="en-US" sz="1200" kern="1200">
              <a:latin typeface="Times New Roman" panose="02020603050405020304" charset="0"/>
              <a:cs typeface="Times New Roman" panose="02020603050405020304" charset="0"/>
            </a:rPr>
            <a:t>Meshing the CAD model and applying the boundary conditions.</a:t>
          </a:r>
          <a:endParaRPr lang="en-IN" sz="1200" kern="1200">
            <a:latin typeface="Times New Roman" panose="02020603050405020304" charset="0"/>
            <a:cs typeface="Times New Roman" panose="02020603050405020304" charset="0"/>
          </a:endParaRPr>
        </a:p>
        <a:p>
          <a:pPr marL="114300" lvl="1" indent="-114300" algn="l" defTabSz="533400">
            <a:lnSpc>
              <a:spcPct val="90000"/>
            </a:lnSpc>
            <a:spcBef>
              <a:spcPct val="0"/>
            </a:spcBef>
            <a:spcAft>
              <a:spcPct val="15000"/>
            </a:spcAft>
            <a:buFont typeface="Symbol" panose="05050102010706020507" pitchFamily="1" charset="2"/>
            <a:buChar char="••"/>
          </a:pPr>
          <a:r>
            <a:rPr lang="en-US" sz="1200" kern="1200">
              <a:latin typeface="Times New Roman" panose="02020603050405020304" charset="0"/>
              <a:cs typeface="Times New Roman" panose="02020603050405020304" charset="0"/>
            </a:rPr>
            <a:t>Solve for the solution of meshed model using ANSYS.</a:t>
          </a:r>
          <a:endParaRPr lang="en-IN" sz="1200" kern="1200">
            <a:latin typeface="Times New Roman" panose="02020603050405020304" charset="0"/>
            <a:cs typeface="Times New Roman" panose="02020603050405020304" charset="0"/>
          </a:endParaRPr>
        </a:p>
      </dsp:txBody>
      <dsp:txXfrm rot="-5400000">
        <a:off x="1174079" y="1538692"/>
        <a:ext cx="4792500" cy="983776"/>
      </dsp:txXfrm>
    </dsp:sp>
    <dsp:sp modelId="{8C6C6550-7A1B-400A-BFC3-451920DEFB89}">
      <dsp:nvSpPr>
        <dsp:cNvPr id="0" name=""/>
        <dsp:cNvSpPr/>
      </dsp:nvSpPr>
      <dsp:spPr>
        <a:xfrm rot="5400000">
          <a:off x="-251588" y="3221021"/>
          <a:ext cx="1677255" cy="1174079"/>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IN" sz="1800" kern="1200">
              <a:latin typeface="Times New Roman" panose="02020603050405020304" charset="0"/>
              <a:cs typeface="Times New Roman" panose="02020603050405020304" charset="0"/>
            </a:rPr>
            <a:t>Stage 6</a:t>
          </a:r>
        </a:p>
      </dsp:txBody>
      <dsp:txXfrm rot="-5400000">
        <a:off x="1" y="3556473"/>
        <a:ext cx="1174079" cy="503176"/>
      </dsp:txXfrm>
    </dsp:sp>
    <dsp:sp modelId="{74783044-047A-456A-83F7-09D9A37473CA}">
      <dsp:nvSpPr>
        <dsp:cNvPr id="0" name=""/>
        <dsp:cNvSpPr/>
      </dsp:nvSpPr>
      <dsp:spPr>
        <a:xfrm rot="5400000">
          <a:off x="3051831" y="1091680"/>
          <a:ext cx="1090216" cy="484572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Symbol" panose="05050102010706020507" pitchFamily="1" charset="2"/>
            <a:buChar char="••"/>
          </a:pPr>
          <a:r>
            <a:rPr lang="en-US" sz="1200" kern="1200">
              <a:latin typeface="Times New Roman" panose="02020603050405020304" charset="0"/>
              <a:cs typeface="Times New Roman" panose="02020603050405020304" charset="0"/>
            </a:rPr>
            <a:t>Fabrication of specimen</a:t>
          </a:r>
          <a:endParaRPr lang="en-IN" sz="1200" kern="1200">
            <a:latin typeface="Times New Roman" panose="02020603050405020304" charset="0"/>
            <a:cs typeface="Times New Roman" panose="02020603050405020304" charset="0"/>
          </a:endParaRPr>
        </a:p>
        <a:p>
          <a:pPr marL="114300" lvl="1" indent="-114300" algn="l" defTabSz="533400">
            <a:lnSpc>
              <a:spcPct val="90000"/>
            </a:lnSpc>
            <a:spcBef>
              <a:spcPct val="0"/>
            </a:spcBef>
            <a:spcAft>
              <a:spcPct val="15000"/>
            </a:spcAft>
            <a:buFont typeface="Symbol" panose="05050102010706020507" pitchFamily="1" charset="2"/>
            <a:buChar char="••"/>
          </a:pPr>
          <a:r>
            <a:rPr lang="en-US" sz="1200" kern="1200">
              <a:latin typeface="Times New Roman" panose="02020603050405020304" charset="0"/>
              <a:cs typeface="Times New Roman" panose="02020603050405020304" charset="0"/>
            </a:rPr>
            <a:t>Suitable experimentation</a:t>
          </a:r>
          <a:endParaRPr lang="en-IN" sz="1200" kern="1200">
            <a:latin typeface="Times New Roman" panose="02020603050405020304" charset="0"/>
            <a:cs typeface="Times New Roman" panose="02020603050405020304" charset="0"/>
          </a:endParaRPr>
        </a:p>
        <a:p>
          <a:pPr marL="114300" lvl="1" indent="-114300" algn="l" defTabSz="533400">
            <a:lnSpc>
              <a:spcPct val="90000"/>
            </a:lnSpc>
            <a:spcBef>
              <a:spcPct val="0"/>
            </a:spcBef>
            <a:spcAft>
              <a:spcPct val="15000"/>
            </a:spcAft>
            <a:buFont typeface="Symbol" panose="05050102010706020507" pitchFamily="1" charset="2"/>
            <a:buChar char="••"/>
          </a:pPr>
          <a:r>
            <a:rPr lang="en-US" sz="1200" kern="1200">
              <a:latin typeface="Times New Roman" panose="02020603050405020304" charset="0"/>
              <a:cs typeface="Times New Roman" panose="02020603050405020304" charset="0"/>
            </a:rPr>
            <a:t>Validation of result by comparing with software results.</a:t>
          </a:r>
          <a:endParaRPr lang="en-IN" sz="1200" kern="1200">
            <a:latin typeface="Times New Roman" panose="02020603050405020304" charset="0"/>
            <a:cs typeface="Times New Roman" panose="02020603050405020304" charset="0"/>
          </a:endParaRPr>
        </a:p>
      </dsp:txBody>
      <dsp:txXfrm rot="-5400000">
        <a:off x="1174079" y="3022652"/>
        <a:ext cx="4792500" cy="98377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09/06/2025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327824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09/06/2025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09/06/2025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09/06/2025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09/06/2025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09/06/2025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09/06/2025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09/06/2025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09/06/2025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09/06/2025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09/06/2025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09/06/2025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09/06/2025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hyperlink" Target="https://www.autocarindia.com/car-news/datsun-redigo-scores-one-star-in-global-ncap-crash-test-414700" TargetMode="External"/><Relationship Id="rId2" Type="http://schemas.openxmlformats.org/officeDocument/2006/relationships/hyperlink" Target="https://www.autocarindia.com/car-news/hyundai-santro-receives-two-star-global-ncap-rating-414699" TargetMode="External"/><Relationship Id="rId1" Type="http://schemas.openxmlformats.org/officeDocument/2006/relationships/slideLayout" Target="../slideLayouts/slideLayout2.xml"/><Relationship Id="rId5" Type="http://schemas.openxmlformats.org/officeDocument/2006/relationships/hyperlink" Target="https://www.autocarindia.com/car-news/maruti-suzuki-wagon-r-scores-two-stars-in-global-ncap-crash-test-414702" TargetMode="External"/><Relationship Id="rId4" Type="http://schemas.openxmlformats.org/officeDocument/2006/relationships/hyperlink" Target="https://www.autocarindia.com/car-news/maruti-suzuki-ertiga-scores-three-stars-in-global-ncap-crash-test-41470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dx.doi.org/10.1016/j." TargetMode="External"/><Relationship Id="rId2" Type="http://schemas.openxmlformats.org/officeDocument/2006/relationships/hyperlink" Target="https://doi.org/10.1016/j.matpr.2020.08.56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b="1" dirty="0" smtClean="0"/>
              <a:t>“IMPACT IMPROVEMENT OF FRONTAL BUMPER PIPE USING PLA MATERIAL AND 3D PRINTING TECHNOLOGY WITH WASTE PLASTIC”</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ABSTRACT</a:t>
            </a:r>
            <a:endParaRPr lang="en-US" b="1" dirty="0"/>
          </a:p>
        </p:txBody>
      </p:sp>
      <p:sp>
        <p:nvSpPr>
          <p:cNvPr id="3" name="Content Placeholder 2"/>
          <p:cNvSpPr>
            <a:spLocks noGrp="1"/>
          </p:cNvSpPr>
          <p:nvPr>
            <p:ph idx="1"/>
          </p:nvPr>
        </p:nvSpPr>
        <p:spPr/>
        <p:txBody>
          <a:bodyPr>
            <a:normAutofit lnSpcReduction="10000"/>
          </a:bodyPr>
          <a:lstStyle/>
          <a:p>
            <a:r>
              <a:rPr lang="en-IN" dirty="0" smtClean="0"/>
              <a:t>In recent years, the safety improvement of the vehicles is important as well as the engine performance and fuel consumption is also important. The customers are mainly focus on the fuel efficiency and safety rating of the car. There are many cars available in markets which has low safety ratings by global NCAP test. So decide to focus on the  frontal impact of the car by improving the shock absorbing capacity of the vehicle.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92500" lnSpcReduction="20000"/>
          </a:bodyPr>
          <a:lstStyle/>
          <a:p>
            <a:r>
              <a:rPr lang="en-IN" dirty="0" smtClean="0"/>
              <a:t>We can use recycled waste plastic material to improve the impact and increase the shock absorbing capacity of the frontal bumper because of density of the plastic. Plastic material is light weight compare to the metals so that not affect to the vehicle weight and engine performance. Design the different types of 3D printing structure in CATIA by refereeing frontal bumper hollow pipe. Install that plastic structure into hollow pipe and perform the dynamic analysis on the all structure. Find out best structure by checking reaction force of the structure. Perform the UTM testing to validate the results.</a:t>
            </a:r>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PROBLEM STATEMENT</a:t>
            </a:r>
            <a:endParaRPr lang="en-US" dirty="0"/>
          </a:p>
        </p:txBody>
      </p:sp>
      <p:sp>
        <p:nvSpPr>
          <p:cNvPr id="3" name="Content Placeholder 2"/>
          <p:cNvSpPr>
            <a:spLocks noGrp="1"/>
          </p:cNvSpPr>
          <p:nvPr>
            <p:ph idx="1"/>
          </p:nvPr>
        </p:nvSpPr>
        <p:spPr>
          <a:xfrm>
            <a:off x="457200" y="1600200"/>
            <a:ext cx="8229600" cy="5257800"/>
          </a:xfrm>
        </p:spPr>
        <p:txBody>
          <a:bodyPr>
            <a:normAutofit fontScale="85000" lnSpcReduction="20000"/>
          </a:bodyPr>
          <a:lstStyle/>
          <a:p>
            <a:r>
              <a:rPr lang="en-IN" dirty="0" smtClean="0"/>
              <a:t>Traditionally, front-end modules consisted of hefty steel carriers. But with the growing focus on reducing the weight of the vehicles in the past few years has led to increasing usage of lightweight composites, instead of steel and iron, for the structural carriers of FEMs. </a:t>
            </a:r>
          </a:p>
          <a:p>
            <a:r>
              <a:rPr lang="en-IN" dirty="0" smtClean="0"/>
              <a:t>The main 3D printing material used is plastic, although some metals can also be used for 3D printing. However, plastics offer advantages as they are lighter than their metal equivalents. </a:t>
            </a:r>
          </a:p>
          <a:p>
            <a:r>
              <a:rPr lang="en-IN" dirty="0" smtClean="0"/>
              <a:t>This is particularly important in industries such as automotive and aerospace where light-weighting is an issue and can deliver greater fuel efficiency. Also, parts can be created from tailored materials to provide specific properties such as heat resistance, higher strength or water repellence.</a:t>
            </a:r>
            <a:endParaRPr lang="en-US"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OBJECTIVES</a:t>
            </a:r>
            <a:endParaRPr lang="en-US" dirty="0"/>
          </a:p>
        </p:txBody>
      </p:sp>
      <p:sp>
        <p:nvSpPr>
          <p:cNvPr id="3" name="Content Placeholder 2"/>
          <p:cNvSpPr>
            <a:spLocks noGrp="1"/>
          </p:cNvSpPr>
          <p:nvPr>
            <p:ph idx="1"/>
          </p:nvPr>
        </p:nvSpPr>
        <p:spPr/>
        <p:txBody>
          <a:bodyPr>
            <a:normAutofit fontScale="85000" lnSpcReduction="20000"/>
          </a:bodyPr>
          <a:lstStyle/>
          <a:p>
            <a:pPr lvl="0"/>
            <a:r>
              <a:rPr lang="en-IN" dirty="0" smtClean="0"/>
              <a:t>Strength improvement of the frontal bumper for impact improvisation.</a:t>
            </a:r>
            <a:endParaRPr lang="en-US" dirty="0" smtClean="0"/>
          </a:p>
          <a:p>
            <a:pPr lvl="0"/>
            <a:r>
              <a:rPr lang="en-IN" dirty="0" smtClean="0"/>
              <a:t>3D modelling of the metal hollow pipe used in vehicle front bumper with different 2 types of plastic structure.</a:t>
            </a:r>
            <a:endParaRPr lang="en-US" dirty="0" smtClean="0"/>
          </a:p>
          <a:p>
            <a:pPr lvl="0"/>
            <a:r>
              <a:rPr lang="en-IN" dirty="0" smtClean="0"/>
              <a:t>Perform the dynamic analysis on the hollow pipe.</a:t>
            </a:r>
            <a:endParaRPr lang="en-US" dirty="0" smtClean="0"/>
          </a:p>
          <a:p>
            <a:pPr lvl="0"/>
            <a:r>
              <a:rPr lang="en-IN" dirty="0" smtClean="0"/>
              <a:t>Perform the dynamic analysis of the hollow pipe with different plastic structure.</a:t>
            </a:r>
            <a:endParaRPr lang="en-US" dirty="0" smtClean="0"/>
          </a:p>
          <a:p>
            <a:pPr lvl="0"/>
            <a:r>
              <a:rPr lang="en-IN" dirty="0" smtClean="0"/>
              <a:t>Study on the 3D printing technology and material properties of PLA.</a:t>
            </a:r>
            <a:endParaRPr lang="en-US" dirty="0" smtClean="0"/>
          </a:p>
          <a:p>
            <a:pPr lvl="0"/>
            <a:r>
              <a:rPr lang="en-IN" dirty="0" smtClean="0"/>
              <a:t>Experimental validation of the optimized 3D printing structure with the help of universal testing machine.</a:t>
            </a:r>
            <a:endParaRPr lang="en-US"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METHODOLOGY</a:t>
            </a:r>
            <a:endParaRPr lang="en-US" dirty="0"/>
          </a:p>
        </p:txBody>
      </p:sp>
      <p:graphicFrame>
        <p:nvGraphicFramePr>
          <p:cNvPr id="4" name="Diagram 3"/>
          <p:cNvGraphicFramePr/>
          <p:nvPr/>
        </p:nvGraphicFramePr>
        <p:xfrm>
          <a:off x="1557337" y="1814512"/>
          <a:ext cx="6029325" cy="4129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1562100" y="1066800"/>
          <a:ext cx="6019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OVERVIEW</a:t>
            </a:r>
            <a:endParaRPr lang="en-US" dirty="0"/>
          </a:p>
        </p:txBody>
      </p:sp>
      <p:sp>
        <p:nvSpPr>
          <p:cNvPr id="3" name="Content Placeholder 2"/>
          <p:cNvSpPr>
            <a:spLocks noGrp="1"/>
          </p:cNvSpPr>
          <p:nvPr>
            <p:ph idx="1"/>
          </p:nvPr>
        </p:nvSpPr>
        <p:spPr/>
        <p:txBody>
          <a:bodyPr>
            <a:normAutofit lnSpcReduction="10000"/>
          </a:bodyPr>
          <a:lstStyle/>
          <a:p>
            <a:r>
              <a:rPr lang="en-IN" dirty="0" smtClean="0"/>
              <a:t>Over the past year, Global NCAP has released the results of more models, most recently of the </a:t>
            </a:r>
            <a:r>
              <a:rPr lang="en-IN" dirty="0" smtClean="0">
                <a:hlinkClick r:id="rId2"/>
              </a:rPr>
              <a:t>Hyundai </a:t>
            </a:r>
            <a:r>
              <a:rPr lang="en-IN" dirty="0" err="1" smtClean="0">
                <a:hlinkClick r:id="rId2"/>
              </a:rPr>
              <a:t>Santro</a:t>
            </a:r>
            <a:r>
              <a:rPr lang="en-IN" dirty="0" smtClean="0"/>
              <a:t>, </a:t>
            </a:r>
            <a:r>
              <a:rPr lang="en-IN" dirty="0" err="1" smtClean="0">
                <a:hlinkClick r:id="rId3"/>
              </a:rPr>
              <a:t>Datsun</a:t>
            </a:r>
            <a:r>
              <a:rPr lang="en-IN" dirty="0" smtClean="0">
                <a:hlinkClick r:id="rId3"/>
              </a:rPr>
              <a:t> </a:t>
            </a:r>
            <a:r>
              <a:rPr lang="en-IN" dirty="0" err="1" smtClean="0">
                <a:hlinkClick r:id="rId3"/>
              </a:rPr>
              <a:t>Redigo</a:t>
            </a:r>
            <a:r>
              <a:rPr lang="en-IN" dirty="0" smtClean="0"/>
              <a:t> and </a:t>
            </a:r>
            <a:r>
              <a:rPr lang="en-IN" dirty="0" err="1" smtClean="0">
                <a:hlinkClick r:id="rId4"/>
              </a:rPr>
              <a:t>Maruti's</a:t>
            </a:r>
            <a:r>
              <a:rPr lang="en-IN" dirty="0" smtClean="0">
                <a:hlinkClick r:id="rId4"/>
              </a:rPr>
              <a:t> </a:t>
            </a:r>
            <a:r>
              <a:rPr lang="en-IN" dirty="0" err="1" smtClean="0">
                <a:hlinkClick r:id="rId4"/>
              </a:rPr>
              <a:t>Ertiga</a:t>
            </a:r>
            <a:r>
              <a:rPr lang="en-IN" dirty="0" smtClean="0"/>
              <a:t> and </a:t>
            </a:r>
            <a:r>
              <a:rPr lang="en-IN" dirty="0" smtClean="0">
                <a:hlinkClick r:id="rId5"/>
              </a:rPr>
              <a:t>Wagon R</a:t>
            </a:r>
            <a:r>
              <a:rPr lang="en-IN" dirty="0" smtClean="0"/>
              <a:t>. While the results have reached far and wide (God bless the internet), a look at online forums and social media chatter also suggests there’s a lot of misinformation about the crash tests. So, it’s a time as good as any to break it right down.</a:t>
            </a:r>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GLOBAL NCAP TEST</a:t>
            </a:r>
            <a:endParaRPr lang="en-US" dirty="0"/>
          </a:p>
        </p:txBody>
      </p:sp>
      <p:sp>
        <p:nvSpPr>
          <p:cNvPr id="3" name="Content Placeholder 2"/>
          <p:cNvSpPr>
            <a:spLocks noGrp="1"/>
          </p:cNvSpPr>
          <p:nvPr>
            <p:ph idx="1"/>
          </p:nvPr>
        </p:nvSpPr>
        <p:spPr>
          <a:xfrm>
            <a:off x="457200" y="1600200"/>
            <a:ext cx="8229600" cy="5257800"/>
          </a:xfrm>
        </p:spPr>
        <p:txBody>
          <a:bodyPr>
            <a:normAutofit fontScale="77500" lnSpcReduction="20000"/>
          </a:bodyPr>
          <a:lstStyle/>
          <a:p>
            <a:r>
              <a:rPr lang="en-IN" dirty="0" smtClean="0"/>
              <a:t>NCAP stands for New Car Assessment Program. To give a brief background, in 1978 USA became the first country to come up with a programme to provide car crashworthiness information to consumers, which eventually expanded to crash testing and reporting the results. </a:t>
            </a:r>
          </a:p>
          <a:p>
            <a:r>
              <a:rPr lang="en-IN" dirty="0" smtClean="0"/>
              <a:t>The US-NCAP model formed the basis for similar programme in other regions, and today there is the Australasian NCAP, Euro NCAP, Japan NCAP, ASEAN NCAP, China NCAP, Korean NCAP and Latin NCAP. </a:t>
            </a:r>
          </a:p>
          <a:p>
            <a:r>
              <a:rPr lang="en-IN" dirty="0" smtClean="0"/>
              <a:t>Global NCAP, an independent charity registered in the UK, was formed in 2011 to enhance cooperation between the various NCAPs and primarily promote vehicle crash-testing and reporting in emerging markets. ‘Safer Cars For India’ and ‘Safer Cars For Africa’ are its key initiatives at the moment.</a:t>
            </a: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CRASH TEST</a:t>
            </a:r>
            <a:endParaRPr lang="en-US" b="1" dirty="0"/>
          </a:p>
        </p:txBody>
      </p:sp>
      <p:pic>
        <p:nvPicPr>
          <p:cNvPr id="4" name="Picture 3"/>
          <p:cNvPicPr/>
          <p:nvPr/>
        </p:nvPicPr>
        <p:blipFill>
          <a:blip r:embed="rId2"/>
          <a:stretch>
            <a:fillRect/>
          </a:stretch>
        </p:blipFill>
        <p:spPr>
          <a:xfrm>
            <a:off x="1676400" y="1905000"/>
            <a:ext cx="6048375" cy="4067175"/>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3D MODELLING OF THE FRONT BUMPER RECTANGULAR PIPE</a:t>
            </a:r>
            <a:r>
              <a:rPr lang="en-US" dirty="0" smtClean="0"/>
              <a:t/>
            </a:r>
            <a:br>
              <a:rPr lang="en-US" dirty="0" smtClean="0"/>
            </a:br>
            <a:endParaRPr lang="en-US" dirty="0"/>
          </a:p>
        </p:txBody>
      </p:sp>
      <p:pic>
        <p:nvPicPr>
          <p:cNvPr id="4" name="Picture 3"/>
          <p:cNvPicPr/>
          <p:nvPr/>
        </p:nvPicPr>
        <p:blipFill>
          <a:blip r:embed="rId2"/>
          <a:stretch>
            <a:fillRect/>
          </a:stretch>
        </p:blipFill>
        <p:spPr>
          <a:xfrm>
            <a:off x="1828800" y="1828800"/>
            <a:ext cx="5623560" cy="3710940"/>
          </a:xfrm>
          <a:prstGeom prst="rect">
            <a:avLst/>
          </a:prstGeom>
          <a:noFill/>
          <a:ln>
            <a:solidFill>
              <a:schemeClr val="tx1"/>
            </a:solid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3D MODEL FOR THE FEA</a:t>
            </a:r>
            <a:endParaRPr lang="en-US" b="1" dirty="0"/>
          </a:p>
        </p:txBody>
      </p:sp>
      <p:pic>
        <p:nvPicPr>
          <p:cNvPr id="4" name="Picture 3"/>
          <p:cNvPicPr/>
          <p:nvPr/>
        </p:nvPicPr>
        <p:blipFill>
          <a:blip r:embed="rId2"/>
          <a:stretch>
            <a:fillRect/>
          </a:stretch>
        </p:blipFill>
        <p:spPr>
          <a:xfrm>
            <a:off x="1919605" y="1412240"/>
            <a:ext cx="5304790" cy="4033520"/>
          </a:xfrm>
          <a:prstGeom prst="rect">
            <a:avLst/>
          </a:prstGeom>
          <a:noFill/>
          <a:ln>
            <a:solidFill>
              <a:schemeClr val="tx1"/>
            </a:solid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FINITE ELEMENT ANALYSIS</a:t>
            </a:r>
            <a:endParaRPr lang="en-US" dirty="0"/>
          </a:p>
        </p:txBody>
      </p:sp>
      <p:pic>
        <p:nvPicPr>
          <p:cNvPr id="4" name="Picture 3" descr="FULL"/>
          <p:cNvPicPr/>
          <p:nvPr/>
        </p:nvPicPr>
        <p:blipFill>
          <a:blip r:embed="rId2"/>
          <a:stretch>
            <a:fillRect/>
          </a:stretch>
        </p:blipFill>
        <p:spPr>
          <a:xfrm>
            <a:off x="1066800" y="1981200"/>
            <a:ext cx="7127875" cy="383667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MATERIAL PROPERTIES For Original </a:t>
            </a:r>
            <a:endParaRPr lang="en-US" b="1" dirty="0"/>
          </a:p>
        </p:txBody>
      </p:sp>
      <p:pic>
        <p:nvPicPr>
          <p:cNvPr id="4" name="Picture 3" descr="SS_NL"/>
          <p:cNvPicPr/>
          <p:nvPr/>
        </p:nvPicPr>
        <p:blipFill>
          <a:blip r:embed="rId2"/>
          <a:stretch>
            <a:fillRect/>
          </a:stretch>
        </p:blipFill>
        <p:spPr>
          <a:xfrm>
            <a:off x="1600200" y="1981200"/>
            <a:ext cx="6019800" cy="38100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Original Weight</a:t>
            </a:r>
            <a:endParaRPr lang="en-US" b="1" dirty="0"/>
          </a:p>
        </p:txBody>
      </p:sp>
      <p:pic>
        <p:nvPicPr>
          <p:cNvPr id="9218" name="Picture 2" descr="D:\IDS\Project\Student Project\2021\Final Group MAD\ME\ME22-3D Frontal Bumper Metal Plstic Hybride\New Snap\Original Weight.PNG"/>
          <p:cNvPicPr>
            <a:picLocks noChangeAspect="1" noChangeArrowheads="1"/>
          </p:cNvPicPr>
          <p:nvPr/>
        </p:nvPicPr>
        <p:blipFill>
          <a:blip r:embed="rId2"/>
          <a:srcRect/>
          <a:stretch>
            <a:fillRect/>
          </a:stretch>
        </p:blipFill>
        <p:spPr bwMode="auto">
          <a:xfrm>
            <a:off x="990600" y="2438400"/>
            <a:ext cx="7523494" cy="1643062"/>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MESH</a:t>
            </a:r>
            <a:endParaRPr lang="en-US" dirty="0"/>
          </a:p>
        </p:txBody>
      </p:sp>
      <p:pic>
        <p:nvPicPr>
          <p:cNvPr id="4" name="Picture 3" descr="Mesh_0"/>
          <p:cNvPicPr/>
          <p:nvPr/>
        </p:nvPicPr>
        <p:blipFill>
          <a:blip r:embed="rId2"/>
          <a:stretch>
            <a:fillRect/>
          </a:stretch>
        </p:blipFill>
        <p:spPr>
          <a:xfrm>
            <a:off x="304800" y="1295400"/>
            <a:ext cx="4154170" cy="3660140"/>
          </a:xfrm>
          <a:prstGeom prst="rect">
            <a:avLst/>
          </a:prstGeom>
        </p:spPr>
      </p:pic>
      <p:pic>
        <p:nvPicPr>
          <p:cNvPr id="5" name="Picture 4" descr="Mesh_2"/>
          <p:cNvPicPr/>
          <p:nvPr/>
        </p:nvPicPr>
        <p:blipFill>
          <a:blip r:embed="rId3"/>
          <a:stretch>
            <a:fillRect/>
          </a:stretch>
        </p:blipFill>
        <p:spPr>
          <a:xfrm>
            <a:off x="304800" y="5105400"/>
            <a:ext cx="3790950" cy="1590675"/>
          </a:xfrm>
          <a:prstGeom prst="rect">
            <a:avLst/>
          </a:prstGeom>
        </p:spPr>
      </p:pic>
      <p:pic>
        <p:nvPicPr>
          <p:cNvPr id="6" name="Picture 5" descr="Mesh_1"/>
          <p:cNvPicPr/>
          <p:nvPr/>
        </p:nvPicPr>
        <p:blipFill>
          <a:blip r:embed="rId4"/>
          <a:stretch>
            <a:fillRect/>
          </a:stretch>
        </p:blipFill>
        <p:spPr>
          <a:xfrm>
            <a:off x="5181600" y="1295400"/>
            <a:ext cx="3381375" cy="3314700"/>
          </a:xfrm>
          <a:prstGeom prst="rect">
            <a:avLst/>
          </a:prstGeom>
        </p:spPr>
      </p:pic>
      <p:pic>
        <p:nvPicPr>
          <p:cNvPr id="7" name="Picture 6" descr="Mesh_stat"/>
          <p:cNvPicPr/>
          <p:nvPr/>
        </p:nvPicPr>
        <p:blipFill>
          <a:blip r:embed="rId5"/>
          <a:stretch>
            <a:fillRect/>
          </a:stretch>
        </p:blipFill>
        <p:spPr>
          <a:xfrm>
            <a:off x="5257800" y="5257800"/>
            <a:ext cx="2895600" cy="9144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BOUNDARY CONDITION </a:t>
            </a:r>
            <a:endParaRPr lang="en-US" dirty="0"/>
          </a:p>
        </p:txBody>
      </p:sp>
      <p:pic>
        <p:nvPicPr>
          <p:cNvPr id="4" name="Picture 3" descr="Velocity"/>
          <p:cNvPicPr/>
          <p:nvPr/>
        </p:nvPicPr>
        <p:blipFill>
          <a:blip r:embed="rId2"/>
          <a:stretch>
            <a:fillRect/>
          </a:stretch>
        </p:blipFill>
        <p:spPr>
          <a:xfrm>
            <a:off x="533400" y="2057400"/>
            <a:ext cx="3657600" cy="3962400"/>
          </a:xfrm>
          <a:prstGeom prst="rect">
            <a:avLst/>
          </a:prstGeom>
        </p:spPr>
      </p:pic>
      <p:pic>
        <p:nvPicPr>
          <p:cNvPr id="5" name="Picture 4" descr="Fix_support"/>
          <p:cNvPicPr/>
          <p:nvPr/>
        </p:nvPicPr>
        <p:blipFill>
          <a:blip r:embed="rId3"/>
          <a:stretch>
            <a:fillRect/>
          </a:stretch>
        </p:blipFill>
        <p:spPr>
          <a:xfrm>
            <a:off x="4953000" y="2286000"/>
            <a:ext cx="3810000" cy="36576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RESULTS-: Total deformation</a:t>
            </a:r>
            <a:endParaRPr lang="en-US" dirty="0"/>
          </a:p>
        </p:txBody>
      </p:sp>
      <p:pic>
        <p:nvPicPr>
          <p:cNvPr id="4" name="Picture 3" descr="Total_deformation_full"/>
          <p:cNvPicPr/>
          <p:nvPr/>
        </p:nvPicPr>
        <p:blipFill>
          <a:blip r:embed="rId2"/>
          <a:stretch>
            <a:fillRect/>
          </a:stretch>
        </p:blipFill>
        <p:spPr>
          <a:xfrm>
            <a:off x="1676400" y="1676400"/>
            <a:ext cx="5638800" cy="43434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RESULTS-: Total Deformation in Bumper</a:t>
            </a:r>
            <a:endParaRPr lang="en-US" dirty="0"/>
          </a:p>
        </p:txBody>
      </p:sp>
      <p:pic>
        <p:nvPicPr>
          <p:cNvPr id="4" name="Picture 3" descr="Total_deformation"/>
          <p:cNvPicPr/>
          <p:nvPr/>
        </p:nvPicPr>
        <p:blipFill>
          <a:blip r:embed="rId2"/>
          <a:stretch>
            <a:fillRect/>
          </a:stretch>
        </p:blipFill>
        <p:spPr>
          <a:xfrm>
            <a:off x="2209800" y="2057400"/>
            <a:ext cx="5029200" cy="37338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RESULTS:- Direction deformation at y direction </a:t>
            </a:r>
            <a:endParaRPr lang="en-US" b="1" dirty="0"/>
          </a:p>
        </p:txBody>
      </p:sp>
      <p:pic>
        <p:nvPicPr>
          <p:cNvPr id="4" name="Picture 3" descr="Directional_deformation"/>
          <p:cNvPicPr/>
          <p:nvPr/>
        </p:nvPicPr>
        <p:blipFill>
          <a:blip r:embed="rId2"/>
          <a:stretch>
            <a:fillRect/>
          </a:stretch>
        </p:blipFill>
        <p:spPr>
          <a:xfrm>
            <a:off x="1905000" y="2057400"/>
            <a:ext cx="5486400" cy="39624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RESULTS-:Equivalent stress generated on the front bumper pipe</a:t>
            </a:r>
            <a:endParaRPr lang="en-US" b="1" dirty="0"/>
          </a:p>
        </p:txBody>
      </p:sp>
      <p:pic>
        <p:nvPicPr>
          <p:cNvPr id="4" name="Picture 3" descr="Equivalent_stress"/>
          <p:cNvPicPr/>
          <p:nvPr/>
        </p:nvPicPr>
        <p:blipFill>
          <a:blip r:embed="rId2"/>
          <a:stretch>
            <a:fillRect/>
          </a:stretch>
        </p:blipFill>
        <p:spPr>
          <a:xfrm>
            <a:off x="1676400" y="1905000"/>
            <a:ext cx="5862638" cy="422433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RESULTS-: Reaction force</a:t>
            </a:r>
            <a:endParaRPr lang="en-US" b="1" dirty="0"/>
          </a:p>
        </p:txBody>
      </p:sp>
      <p:pic>
        <p:nvPicPr>
          <p:cNvPr id="5" name="Picture 4" descr="graph"/>
          <p:cNvPicPr/>
          <p:nvPr/>
        </p:nvPicPr>
        <p:blipFill>
          <a:blip r:embed="rId2"/>
          <a:stretch>
            <a:fillRect/>
          </a:stretch>
        </p:blipFill>
        <p:spPr>
          <a:xfrm>
            <a:off x="1676400" y="1676400"/>
            <a:ext cx="5725795" cy="2194560"/>
          </a:xfrm>
          <a:prstGeom prst="rect">
            <a:avLst/>
          </a:prstGeom>
          <a:noFill/>
          <a:ln>
            <a:solidFill>
              <a:schemeClr val="tx1"/>
            </a:solidFill>
          </a:ln>
        </p:spPr>
      </p:pic>
      <p:pic>
        <p:nvPicPr>
          <p:cNvPr id="6" name="Picture 5"/>
          <p:cNvPicPr/>
          <p:nvPr/>
        </p:nvPicPr>
        <p:blipFill>
          <a:blip r:embed="rId3"/>
          <a:stretch>
            <a:fillRect/>
          </a:stretch>
        </p:blipFill>
        <p:spPr>
          <a:xfrm>
            <a:off x="3124200" y="4495800"/>
            <a:ext cx="3276600" cy="1676400"/>
          </a:xfrm>
          <a:prstGeom prst="rect">
            <a:avLst/>
          </a:prstGeom>
          <a:noFill/>
          <a:ln>
            <a:solidFill>
              <a:schemeClr val="tx1"/>
            </a:solid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Zig</a:t>
            </a:r>
            <a:r>
              <a:rPr lang="en-US" b="1" dirty="0" smtClean="0"/>
              <a:t> </a:t>
            </a:r>
            <a:r>
              <a:rPr lang="en-US" b="1" dirty="0" err="1" smtClean="0"/>
              <a:t>zag</a:t>
            </a:r>
            <a:r>
              <a:rPr lang="en-US" b="1" dirty="0" smtClean="0"/>
              <a:t> Shape PLA</a:t>
            </a:r>
            <a:endParaRPr lang="en-US" b="1" dirty="0"/>
          </a:p>
        </p:txBody>
      </p:sp>
      <p:pic>
        <p:nvPicPr>
          <p:cNvPr id="2050" name="Picture 2" descr="D:\IDS\Project\Student Project\2021\Final Group MAD\ME\ME22-3D Frontal Bumper Metal Plstic Hybride\New Snap\geo 1.PNG"/>
          <p:cNvPicPr>
            <a:picLocks noChangeAspect="1" noChangeArrowheads="1"/>
          </p:cNvPicPr>
          <p:nvPr/>
        </p:nvPicPr>
        <p:blipFill>
          <a:blip r:embed="rId2"/>
          <a:srcRect/>
          <a:stretch>
            <a:fillRect/>
          </a:stretch>
        </p:blipFill>
        <p:spPr bwMode="auto">
          <a:xfrm>
            <a:off x="4648200" y="2133600"/>
            <a:ext cx="3733800" cy="3390900"/>
          </a:xfrm>
          <a:prstGeom prst="rect">
            <a:avLst/>
          </a:prstGeom>
          <a:noFill/>
        </p:spPr>
      </p:pic>
      <p:pic>
        <p:nvPicPr>
          <p:cNvPr id="2051" name="Picture 3" descr="D:\IDS\Project\Student Project\2021\Final Group MAD\ME\ME22-3D Frontal Bumper Metal Plstic Hybride\New Snap\geo.PNG"/>
          <p:cNvPicPr>
            <a:picLocks noChangeAspect="1" noChangeArrowheads="1"/>
          </p:cNvPicPr>
          <p:nvPr/>
        </p:nvPicPr>
        <p:blipFill>
          <a:blip r:embed="rId3"/>
          <a:srcRect/>
          <a:stretch>
            <a:fillRect/>
          </a:stretch>
        </p:blipFill>
        <p:spPr bwMode="auto">
          <a:xfrm>
            <a:off x="457200" y="2133600"/>
            <a:ext cx="3867150" cy="342900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MATERIAL PROPERTIES FOR PLA</a:t>
            </a:r>
            <a:endParaRPr lang="en-US" b="1" dirty="0"/>
          </a:p>
        </p:txBody>
      </p:sp>
      <p:pic>
        <p:nvPicPr>
          <p:cNvPr id="1026" name="Picture 2" descr="D:\IDS\Project\Student Project\2021\Final Group MAD\ME\ME22-3D Frontal Bumper Metal Plstic Hybride\New Snap\PLA.PNG"/>
          <p:cNvPicPr>
            <a:picLocks noChangeAspect="1" noChangeArrowheads="1"/>
          </p:cNvPicPr>
          <p:nvPr/>
        </p:nvPicPr>
        <p:blipFill>
          <a:blip r:embed="rId2"/>
          <a:srcRect/>
          <a:stretch>
            <a:fillRect/>
          </a:stretch>
        </p:blipFill>
        <p:spPr bwMode="auto">
          <a:xfrm>
            <a:off x="762000" y="2057400"/>
            <a:ext cx="8000981" cy="3481387"/>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b="1" dirty="0" smtClean="0"/>
              <a:t>Weight of PLA Material</a:t>
            </a:r>
            <a:endParaRPr lang="en-US" b="1" dirty="0"/>
          </a:p>
        </p:txBody>
      </p:sp>
      <p:pic>
        <p:nvPicPr>
          <p:cNvPr id="8194" name="Picture 2" descr="D:\IDS\Project\Student Project\2021\Final Group MAD\ME\ME22-3D Frontal Bumper Metal Plstic Hybride\New Snap\Triangle Weight.PNG"/>
          <p:cNvPicPr>
            <a:picLocks noChangeAspect="1" noChangeArrowheads="1"/>
          </p:cNvPicPr>
          <p:nvPr/>
        </p:nvPicPr>
        <p:blipFill>
          <a:blip r:embed="rId2"/>
          <a:srcRect/>
          <a:stretch>
            <a:fillRect/>
          </a:stretch>
        </p:blipFill>
        <p:spPr bwMode="auto">
          <a:xfrm>
            <a:off x="1295400" y="2590800"/>
            <a:ext cx="7499668" cy="1504950"/>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RESULTS-: Total deformation</a:t>
            </a:r>
            <a:endParaRPr lang="en-US" dirty="0"/>
          </a:p>
        </p:txBody>
      </p:sp>
      <p:pic>
        <p:nvPicPr>
          <p:cNvPr id="3074" name="Picture 2" descr="D:\IDS\Project\Student Project\2021\Final Group MAD\ME\ME22-3D Frontal Bumper Metal Plstic Hybride\New Snap\Total Deformation.png"/>
          <p:cNvPicPr>
            <a:picLocks noChangeAspect="1" noChangeArrowheads="1"/>
          </p:cNvPicPr>
          <p:nvPr/>
        </p:nvPicPr>
        <p:blipFill>
          <a:blip r:embed="rId2"/>
          <a:srcRect/>
          <a:stretch>
            <a:fillRect/>
          </a:stretch>
        </p:blipFill>
        <p:spPr bwMode="auto">
          <a:xfrm>
            <a:off x="533400" y="1828800"/>
            <a:ext cx="8305877" cy="3919537"/>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RESULTS-: Total Deformation in Bumper</a:t>
            </a:r>
            <a:endParaRPr lang="en-US" dirty="0"/>
          </a:p>
        </p:txBody>
      </p:sp>
      <p:pic>
        <p:nvPicPr>
          <p:cNvPr id="4098" name="Picture 2" descr="D:\IDS\Project\Student Project\2021\Final Group MAD\ME\ME22-3D Frontal Bumper Metal Plstic Hybride\New Snap\Directional Deformation.png"/>
          <p:cNvPicPr>
            <a:picLocks noChangeAspect="1" noChangeArrowheads="1"/>
          </p:cNvPicPr>
          <p:nvPr/>
        </p:nvPicPr>
        <p:blipFill>
          <a:blip r:embed="rId2"/>
          <a:srcRect/>
          <a:stretch>
            <a:fillRect/>
          </a:stretch>
        </p:blipFill>
        <p:spPr bwMode="auto">
          <a:xfrm>
            <a:off x="533400" y="1828800"/>
            <a:ext cx="7962900" cy="3757686"/>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RESULTS-:Equivalent stress generated on the front bumper pipe</a:t>
            </a:r>
            <a:endParaRPr lang="en-US" dirty="0"/>
          </a:p>
        </p:txBody>
      </p:sp>
      <p:pic>
        <p:nvPicPr>
          <p:cNvPr id="5122" name="Picture 2" descr="D:\IDS\Project\Student Project\2021\Final Group MAD\ME\ME22-3D Frontal Bumper Metal Plstic Hybride\New Snap\Stress.png"/>
          <p:cNvPicPr>
            <a:picLocks noChangeAspect="1" noChangeArrowheads="1"/>
          </p:cNvPicPr>
          <p:nvPr/>
        </p:nvPicPr>
        <p:blipFill>
          <a:blip r:embed="rId2"/>
          <a:srcRect/>
          <a:stretch>
            <a:fillRect/>
          </a:stretch>
        </p:blipFill>
        <p:spPr bwMode="auto">
          <a:xfrm>
            <a:off x="685800" y="1828800"/>
            <a:ext cx="7962900" cy="3757686"/>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RESULTS-:Equivalent stress generated on the front bumper </a:t>
            </a:r>
            <a:r>
              <a:rPr lang="en-US" b="1" dirty="0" err="1" smtClean="0"/>
              <a:t>Zig</a:t>
            </a:r>
            <a:r>
              <a:rPr lang="en-US" b="1" dirty="0" smtClean="0"/>
              <a:t> </a:t>
            </a:r>
            <a:r>
              <a:rPr lang="en-US" b="1" dirty="0" err="1" smtClean="0"/>
              <a:t>Zag</a:t>
            </a:r>
            <a:r>
              <a:rPr lang="en-US" b="1" dirty="0" smtClean="0"/>
              <a:t> Shape</a:t>
            </a:r>
            <a:endParaRPr lang="en-US" dirty="0"/>
          </a:p>
        </p:txBody>
      </p:sp>
      <p:pic>
        <p:nvPicPr>
          <p:cNvPr id="6146" name="Picture 2" descr="D:\IDS\Project\Student Project\2021\Final Group MAD\ME\ME22-3D Frontal Bumper Metal Plstic Hybride\New Snap\Stress 1.png"/>
          <p:cNvPicPr>
            <a:picLocks noChangeAspect="1" noChangeArrowheads="1"/>
          </p:cNvPicPr>
          <p:nvPr/>
        </p:nvPicPr>
        <p:blipFill>
          <a:blip r:embed="rId2"/>
          <a:srcRect/>
          <a:stretch>
            <a:fillRect/>
          </a:stretch>
        </p:blipFill>
        <p:spPr bwMode="auto">
          <a:xfrm>
            <a:off x="457200" y="1981200"/>
            <a:ext cx="8305877" cy="3919537"/>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IN" b="1" dirty="0" smtClean="0"/>
              <a:t>RESULTS-: Reaction force</a:t>
            </a:r>
            <a:endParaRPr lang="en-US" dirty="0"/>
          </a:p>
        </p:txBody>
      </p:sp>
      <p:pic>
        <p:nvPicPr>
          <p:cNvPr id="7170" name="Picture 2" descr="D:\IDS\Project\Student Project\2021\Final Group MAD\ME\ME22-3D Frontal Bumper Metal Plstic Hybride\New Snap\FR.png"/>
          <p:cNvPicPr>
            <a:picLocks noChangeAspect="1" noChangeArrowheads="1"/>
          </p:cNvPicPr>
          <p:nvPr/>
        </p:nvPicPr>
        <p:blipFill>
          <a:blip r:embed="rId2"/>
          <a:srcRect/>
          <a:stretch>
            <a:fillRect/>
          </a:stretch>
        </p:blipFill>
        <p:spPr bwMode="auto">
          <a:xfrm>
            <a:off x="838200" y="1295400"/>
            <a:ext cx="7162800" cy="3531658"/>
          </a:xfrm>
          <a:prstGeom prst="rect">
            <a:avLst/>
          </a:prstGeom>
          <a:noFill/>
        </p:spPr>
      </p:pic>
      <p:pic>
        <p:nvPicPr>
          <p:cNvPr id="7171" name="Picture 3" descr="D:\IDS\Project\Student Project\2021\Final Group MAD\ME\ME22-3D Frontal Bumper Metal Plstic Hybride\New Snap\FR R.PNG"/>
          <p:cNvPicPr>
            <a:picLocks noChangeAspect="1" noChangeArrowheads="1"/>
          </p:cNvPicPr>
          <p:nvPr/>
        </p:nvPicPr>
        <p:blipFill>
          <a:blip r:embed="rId3"/>
          <a:srcRect/>
          <a:stretch>
            <a:fillRect/>
          </a:stretch>
        </p:blipFill>
        <p:spPr bwMode="auto">
          <a:xfrm>
            <a:off x="2743200" y="5105400"/>
            <a:ext cx="3748177" cy="83820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Honeycomb Shape PLA</a:t>
            </a:r>
            <a:endParaRPr lang="en-US" b="1" dirty="0"/>
          </a:p>
        </p:txBody>
      </p:sp>
      <p:pic>
        <p:nvPicPr>
          <p:cNvPr id="4" name="Content Placeholder 3" descr="D:\IDS\Project\Student Project\2021\Final Group MAD\ME\ME22-3D Frontal Bumper Metal Plstic Hybride\New Snap\Honeycomb\Gea.PNG"/>
          <p:cNvPicPr>
            <a:picLocks noGrp="1"/>
          </p:cNvPicPr>
          <p:nvPr>
            <p:ph idx="1"/>
          </p:nvPr>
        </p:nvPicPr>
        <p:blipFill>
          <a:blip r:embed="rId2"/>
          <a:srcRect/>
          <a:stretch>
            <a:fillRect/>
          </a:stretch>
        </p:blipFill>
        <p:spPr>
          <a:xfrm>
            <a:off x="2328549" y="1981200"/>
            <a:ext cx="4486901" cy="3439005"/>
          </a:xfrm>
          <a:prstGeom prst="rect">
            <a:avLst/>
          </a:prstGeom>
          <a:noFill/>
          <a:ln w="9525">
            <a:noFill/>
            <a:miter lim="800000"/>
            <a:headEnd/>
            <a:tailEnd/>
          </a:ln>
        </p:spPr>
      </p:pic>
    </p:spTree>
    <p:extLst>
      <p:ext uri="{BB962C8B-B14F-4D97-AF65-F5344CB8AC3E}">
        <p14:creationId xmlns:p14="http://schemas.microsoft.com/office/powerpoint/2010/main" val="587535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Weight of PLA Material</a:t>
            </a:r>
            <a:endParaRPr lang="en-US" b="1" dirty="0"/>
          </a:p>
        </p:txBody>
      </p:sp>
      <p:pic>
        <p:nvPicPr>
          <p:cNvPr id="4" name="Content Placeholder 3" descr="D:\IDS\Project\Student Project\2021\Final Group MAD\ME\ME22-3D Frontal Bumper Metal Plstic Hybride\New Snap\Triangle Weight.PNG"/>
          <p:cNvPicPr>
            <a:picLocks noGrp="1"/>
          </p:cNvPicPr>
          <p:nvPr>
            <p:ph idx="1"/>
          </p:nvPr>
        </p:nvPicPr>
        <p:blipFill>
          <a:blip r:embed="rId2"/>
          <a:stretch>
            <a:fillRect/>
          </a:stretch>
        </p:blipFill>
        <p:spPr>
          <a:xfrm>
            <a:off x="1143000" y="1905000"/>
            <a:ext cx="6781800" cy="2189993"/>
          </a:xfrm>
          <a:prstGeom prst="rect">
            <a:avLst/>
          </a:prstGeom>
          <a:noFill/>
        </p:spPr>
      </p:pic>
    </p:spTree>
    <p:extLst>
      <p:ext uri="{BB962C8B-B14F-4D97-AF65-F5344CB8AC3E}">
        <p14:creationId xmlns:p14="http://schemas.microsoft.com/office/powerpoint/2010/main" val="1471733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Result : Total </a:t>
            </a:r>
            <a:r>
              <a:rPr lang="en-US" b="1" dirty="0" smtClean="0"/>
              <a:t>Deformation</a:t>
            </a:r>
            <a:endParaRPr lang="en-US" b="1" dirty="0"/>
          </a:p>
        </p:txBody>
      </p:sp>
      <p:pic>
        <p:nvPicPr>
          <p:cNvPr id="4" name="Content Placeholder 3" descr="D:\IDS\Project\Student Project\2021\Final Group MAD\ME\ME22-3D Frontal Bumper Metal Plstic Hybride\New Snap\Total Deformation.png"/>
          <p:cNvPicPr>
            <a:picLocks noGrp="1"/>
          </p:cNvPicPr>
          <p:nvPr>
            <p:ph idx="1"/>
          </p:nvPr>
        </p:nvPicPr>
        <p:blipFill>
          <a:blip r:embed="rId2"/>
          <a:stretch>
            <a:fillRect/>
          </a:stretch>
        </p:blipFill>
        <p:spPr>
          <a:xfrm>
            <a:off x="1649942" y="1600200"/>
            <a:ext cx="5844115" cy="4525963"/>
          </a:xfrm>
          <a:prstGeom prst="rect">
            <a:avLst/>
          </a:prstGeom>
          <a:noFill/>
        </p:spPr>
      </p:pic>
    </p:spTree>
    <p:extLst>
      <p:ext uri="{BB962C8B-B14F-4D97-AF65-F5344CB8AC3E}">
        <p14:creationId xmlns:p14="http://schemas.microsoft.com/office/powerpoint/2010/main" val="12609995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t>Result : Total </a:t>
            </a:r>
            <a:r>
              <a:rPr lang="en-US" b="1" dirty="0" smtClean="0"/>
              <a:t>Deformation in Bumper Pipe</a:t>
            </a:r>
            <a:endParaRPr lang="en-US" b="1" dirty="0"/>
          </a:p>
        </p:txBody>
      </p:sp>
      <p:pic>
        <p:nvPicPr>
          <p:cNvPr id="4" name="Content Placeholder 3" descr="D:\IDS\Project\Student Project\2021\Final Group MAD\ME\ME22-3D Frontal Bumper Metal Plstic Hybride\New Snap\Stress.png"/>
          <p:cNvPicPr>
            <a:picLocks noGrp="1"/>
          </p:cNvPicPr>
          <p:nvPr>
            <p:ph idx="1"/>
          </p:nvPr>
        </p:nvPicPr>
        <p:blipFill>
          <a:blip r:embed="rId2"/>
          <a:stretch>
            <a:fillRect/>
          </a:stretch>
        </p:blipFill>
        <p:spPr>
          <a:xfrm>
            <a:off x="1649942" y="1600200"/>
            <a:ext cx="5844115" cy="4525963"/>
          </a:xfrm>
          <a:prstGeom prst="rect">
            <a:avLst/>
          </a:prstGeom>
          <a:noFill/>
        </p:spPr>
      </p:pic>
    </p:spTree>
    <p:extLst>
      <p:ext uri="{BB962C8B-B14F-4D97-AF65-F5344CB8AC3E}">
        <p14:creationId xmlns:p14="http://schemas.microsoft.com/office/powerpoint/2010/main" val="437083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Result : </a:t>
            </a:r>
            <a:r>
              <a:rPr lang="en-IN" b="1" dirty="0"/>
              <a:t>Equivalent stress generated on the front bumper pipe</a:t>
            </a:r>
            <a:endParaRPr lang="en-US" b="1" dirty="0"/>
          </a:p>
        </p:txBody>
      </p:sp>
      <p:pic>
        <p:nvPicPr>
          <p:cNvPr id="4" name="Content Placeholder 3" descr="D:\IDS\Project\Student Project\2021\Final Group MAD\ME\ME22-3D Frontal Bumper Metal Plstic Hybride\New Snap\Stress.png"/>
          <p:cNvPicPr>
            <a:picLocks noGrp="1"/>
          </p:cNvPicPr>
          <p:nvPr>
            <p:ph idx="1"/>
          </p:nvPr>
        </p:nvPicPr>
        <p:blipFill>
          <a:blip r:embed="rId2"/>
          <a:stretch>
            <a:fillRect/>
          </a:stretch>
        </p:blipFill>
        <p:spPr>
          <a:xfrm>
            <a:off x="1649942" y="1600200"/>
            <a:ext cx="5844115" cy="4525963"/>
          </a:xfrm>
          <a:prstGeom prst="rect">
            <a:avLst/>
          </a:prstGeom>
          <a:noFill/>
        </p:spPr>
      </p:pic>
    </p:spTree>
    <p:extLst>
      <p:ext uri="{BB962C8B-B14F-4D97-AF65-F5344CB8AC3E}">
        <p14:creationId xmlns:p14="http://schemas.microsoft.com/office/powerpoint/2010/main" val="3251368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Results : </a:t>
            </a:r>
            <a:r>
              <a:rPr lang="en-IN" b="1" dirty="0"/>
              <a:t>Equivalent stress generated on the front bumper Honeycomb Shape</a:t>
            </a:r>
            <a:endParaRPr lang="en-US" b="1" dirty="0"/>
          </a:p>
        </p:txBody>
      </p:sp>
      <p:pic>
        <p:nvPicPr>
          <p:cNvPr id="4" name="Content Placeholder 3" descr="D:\IDS\Project\Student Project\2021\Final Group MAD\ME\ME22-3D Frontal Bumper Metal Plstic Hybride\New Snap\Stress 1.png"/>
          <p:cNvPicPr>
            <a:picLocks noGrp="1"/>
          </p:cNvPicPr>
          <p:nvPr>
            <p:ph idx="1"/>
          </p:nvPr>
        </p:nvPicPr>
        <p:blipFill>
          <a:blip r:embed="rId2"/>
          <a:stretch>
            <a:fillRect/>
          </a:stretch>
        </p:blipFill>
        <p:spPr>
          <a:xfrm>
            <a:off x="1649942" y="1951037"/>
            <a:ext cx="5844115" cy="4525963"/>
          </a:xfrm>
          <a:prstGeom prst="rect">
            <a:avLst/>
          </a:prstGeom>
          <a:noFill/>
        </p:spPr>
      </p:pic>
    </p:spTree>
    <p:extLst>
      <p:ext uri="{BB962C8B-B14F-4D97-AF65-F5344CB8AC3E}">
        <p14:creationId xmlns:p14="http://schemas.microsoft.com/office/powerpoint/2010/main" val="1011505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Result : Reaction Force</a:t>
            </a:r>
            <a:endParaRPr lang="en-US" b="1" dirty="0"/>
          </a:p>
        </p:txBody>
      </p:sp>
      <p:pic>
        <p:nvPicPr>
          <p:cNvPr id="4" name="Content Placeholder 3" descr="D:\IDS\Project\Student Project\2021\Final Group MAD\ME\ME22-3D Frontal Bumper Metal Plstic Hybride\New Snap\FR.png"/>
          <p:cNvPicPr>
            <a:picLocks noGrp="1"/>
          </p:cNvPicPr>
          <p:nvPr>
            <p:ph idx="1"/>
          </p:nvPr>
        </p:nvPicPr>
        <p:blipFill>
          <a:blip r:embed="rId2"/>
          <a:stretch>
            <a:fillRect/>
          </a:stretch>
        </p:blipFill>
        <p:spPr>
          <a:xfrm>
            <a:off x="1857374" y="1371600"/>
            <a:ext cx="6067425" cy="3657600"/>
          </a:xfrm>
          <a:prstGeom prst="rect">
            <a:avLst/>
          </a:prstGeom>
          <a:noFill/>
        </p:spPr>
      </p:pic>
      <p:pic>
        <p:nvPicPr>
          <p:cNvPr id="5" name="Picture 4" descr="D:\IDS\Project\Student Project\2021\Final Group MAD\ME\ME22-3D Frontal Bumper Metal Plstic Hybride\New Snap\FR R.PNG"/>
          <p:cNvPicPr/>
          <p:nvPr/>
        </p:nvPicPr>
        <p:blipFill>
          <a:blip r:embed="rId3"/>
          <a:stretch>
            <a:fillRect/>
          </a:stretch>
        </p:blipFill>
        <p:spPr>
          <a:xfrm>
            <a:off x="2057400" y="5120640"/>
            <a:ext cx="5715000" cy="1127760"/>
          </a:xfrm>
          <a:prstGeom prst="rect">
            <a:avLst/>
          </a:prstGeom>
          <a:noFill/>
        </p:spPr>
      </p:pic>
    </p:spTree>
    <p:extLst>
      <p:ext uri="{BB962C8B-B14F-4D97-AF65-F5344CB8AC3E}">
        <p14:creationId xmlns:p14="http://schemas.microsoft.com/office/powerpoint/2010/main" val="911497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EXPERIMENTAL TEST</a:t>
            </a:r>
            <a:r>
              <a:rPr lang="en-IN" altLang="en-US" b="1" dirty="0"/>
              <a:t> RESULTS</a:t>
            </a:r>
          </a:p>
        </p:txBody>
      </p:sp>
      <p:pic>
        <p:nvPicPr>
          <p:cNvPr id="53" name="Picture 1"/>
          <p:cNvPicPr>
            <a:picLocks noGrp="1" noChangeAspect="1"/>
          </p:cNvPicPr>
          <p:nvPr>
            <p:ph idx="1"/>
          </p:nvPr>
        </p:nvPicPr>
        <p:blipFill>
          <a:blip r:embed="rId3"/>
          <a:stretch>
            <a:fillRect/>
          </a:stretch>
        </p:blipFill>
        <p:spPr>
          <a:xfrm>
            <a:off x="961390" y="2186305"/>
            <a:ext cx="7219950" cy="3352800"/>
          </a:xfrm>
          <a:prstGeom prst="rect">
            <a:avLst/>
          </a:prstGeom>
          <a:noFill/>
          <a:ln>
            <a:solidFill>
              <a:schemeClr val="tx1"/>
            </a:solid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dirty="0"/>
              <a:t>EXPERIMENTAL FEA</a:t>
            </a:r>
          </a:p>
        </p:txBody>
      </p:sp>
      <p:pic>
        <p:nvPicPr>
          <p:cNvPr id="43" name="Picture 43" descr="Geo"/>
          <p:cNvPicPr>
            <a:picLocks noGrp="1" noChangeAspect="1"/>
          </p:cNvPicPr>
          <p:nvPr>
            <p:ph idx="1"/>
          </p:nvPr>
        </p:nvPicPr>
        <p:blipFill>
          <a:blip r:embed="rId2"/>
          <a:stretch>
            <a:fillRect/>
          </a:stretch>
        </p:blipFill>
        <p:spPr>
          <a:xfrm>
            <a:off x="1805940" y="1600200"/>
            <a:ext cx="5530850" cy="452628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altLang="en-US" b="1" dirty="0"/>
              <a:t>MESHING</a:t>
            </a:r>
          </a:p>
        </p:txBody>
      </p:sp>
      <p:pic>
        <p:nvPicPr>
          <p:cNvPr id="48" name="Picture 48" descr="Mesh"/>
          <p:cNvPicPr>
            <a:picLocks noGrp="1" noChangeAspect="1"/>
          </p:cNvPicPr>
          <p:nvPr>
            <p:ph sz="half" idx="1"/>
          </p:nvPr>
        </p:nvPicPr>
        <p:blipFill>
          <a:blip r:embed="rId2"/>
          <a:stretch>
            <a:fillRect/>
          </a:stretch>
        </p:blipFill>
        <p:spPr>
          <a:xfrm>
            <a:off x="457200" y="2210435"/>
            <a:ext cx="4038600" cy="3304540"/>
          </a:xfrm>
          <a:prstGeom prst="rect">
            <a:avLst/>
          </a:prstGeom>
        </p:spPr>
      </p:pic>
      <p:pic>
        <p:nvPicPr>
          <p:cNvPr id="49" name="Picture 49" descr="mesh 2"/>
          <p:cNvPicPr>
            <a:picLocks noGrp="1" noChangeAspect="1"/>
          </p:cNvPicPr>
          <p:nvPr>
            <p:ph sz="half" idx="2"/>
          </p:nvPr>
        </p:nvPicPr>
        <p:blipFill>
          <a:blip r:embed="rId3"/>
          <a:stretch>
            <a:fillRect/>
          </a:stretch>
        </p:blipFill>
        <p:spPr>
          <a:xfrm>
            <a:off x="5662295" y="3586480"/>
            <a:ext cx="2009775" cy="55245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dirty="0" smtClean="0"/>
              <a:t>RESULTS</a:t>
            </a:r>
            <a:endParaRPr lang="en-IN" altLang="en-US" b="1" dirty="0"/>
          </a:p>
        </p:txBody>
      </p:sp>
      <p:pic>
        <p:nvPicPr>
          <p:cNvPr id="50" name="Picture 50" descr="Stress"/>
          <p:cNvPicPr>
            <a:picLocks noGrp="1" noChangeAspect="1"/>
          </p:cNvPicPr>
          <p:nvPr>
            <p:ph sz="half" idx="1"/>
          </p:nvPr>
        </p:nvPicPr>
        <p:blipFill>
          <a:blip r:embed="rId2"/>
          <a:stretch>
            <a:fillRect/>
          </a:stretch>
        </p:blipFill>
        <p:spPr>
          <a:xfrm>
            <a:off x="457200" y="2209800"/>
            <a:ext cx="4038600" cy="3204845"/>
          </a:xfrm>
          <a:prstGeom prst="rect">
            <a:avLst/>
          </a:prstGeom>
        </p:spPr>
      </p:pic>
      <p:pic>
        <p:nvPicPr>
          <p:cNvPr id="51" name="Picture 51" descr="FR"/>
          <p:cNvPicPr>
            <a:picLocks noGrp="1" noChangeAspect="1"/>
          </p:cNvPicPr>
          <p:nvPr>
            <p:ph sz="half" idx="2"/>
          </p:nvPr>
        </p:nvPicPr>
        <p:blipFill>
          <a:blip r:embed="rId3"/>
          <a:stretch>
            <a:fillRect/>
          </a:stretch>
        </p:blipFill>
        <p:spPr>
          <a:xfrm>
            <a:off x="4648200" y="2240280"/>
            <a:ext cx="4038600" cy="324485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b="1" dirty="0"/>
              <a:t>DEFROMATION RESULT</a:t>
            </a:r>
          </a:p>
        </p:txBody>
      </p:sp>
      <p:pic>
        <p:nvPicPr>
          <p:cNvPr id="52" name="Picture 52" descr="TD"/>
          <p:cNvPicPr>
            <a:picLocks noGrp="1" noChangeAspect="1"/>
          </p:cNvPicPr>
          <p:nvPr>
            <p:ph sz="half" idx="1"/>
          </p:nvPr>
        </p:nvPicPr>
        <p:blipFill>
          <a:blip r:embed="rId2"/>
          <a:stretch>
            <a:fillRect/>
          </a:stretch>
        </p:blipFill>
        <p:spPr>
          <a:xfrm>
            <a:off x="1005840" y="1828800"/>
            <a:ext cx="7132320" cy="423989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CONCLUSION</a:t>
            </a:r>
            <a:endParaRPr lang="en-US" dirty="0"/>
          </a:p>
        </p:txBody>
      </p:sp>
      <p:sp>
        <p:nvSpPr>
          <p:cNvPr id="3" name="Content Placeholder 2"/>
          <p:cNvSpPr>
            <a:spLocks noGrp="1"/>
          </p:cNvSpPr>
          <p:nvPr>
            <p:ph idx="1"/>
          </p:nvPr>
        </p:nvSpPr>
        <p:spPr>
          <a:xfrm>
            <a:off x="457200" y="1676400"/>
            <a:ext cx="8229600" cy="4525963"/>
          </a:xfrm>
        </p:spPr>
        <p:txBody>
          <a:bodyPr>
            <a:normAutofit fontScale="70000" lnSpcReduction="20000"/>
          </a:bodyPr>
          <a:lstStyle/>
          <a:p>
            <a:pPr lvl="0"/>
            <a:r>
              <a:rPr lang="en-IN" dirty="0" smtClean="0"/>
              <a:t>In this project, studied on the 3D printing technology and pipes use for the front bumper for impact improvisation.</a:t>
            </a:r>
            <a:endParaRPr lang="en-US" dirty="0" smtClean="0"/>
          </a:p>
          <a:p>
            <a:pPr lvl="0"/>
            <a:r>
              <a:rPr lang="en-IN" dirty="0" smtClean="0"/>
              <a:t>Developed the literature survey on the bumper and metal plastic hybrid.</a:t>
            </a:r>
            <a:endParaRPr lang="en-US" dirty="0" smtClean="0"/>
          </a:p>
          <a:p>
            <a:pPr lvl="0"/>
            <a:r>
              <a:rPr lang="en-IN" dirty="0" smtClean="0"/>
              <a:t>Developed the 3D cad model of front bumper rectangular pipe using CATIA software.</a:t>
            </a:r>
            <a:endParaRPr lang="en-US" dirty="0" smtClean="0"/>
          </a:p>
          <a:p>
            <a:pPr lvl="0"/>
            <a:r>
              <a:rPr lang="en-IN" dirty="0" smtClean="0"/>
              <a:t>Performed the explicit dynamic analysis on the front bumper pipe using ANSYS software and find out the reaction force of the bumper without plastic stiffeners.</a:t>
            </a:r>
            <a:endParaRPr lang="en-US" dirty="0" smtClean="0"/>
          </a:p>
          <a:p>
            <a:pPr lvl="0"/>
            <a:r>
              <a:rPr lang="en-IN" dirty="0" smtClean="0"/>
              <a:t>The reaction force of the existing bumper is 46230 N and the negative direction shows the direction.</a:t>
            </a:r>
          </a:p>
          <a:p>
            <a:r>
              <a:rPr lang="en-US" dirty="0" smtClean="0"/>
              <a:t>As per dynamic analysis the force reaction observed on the existing front bumper pipe is  46230N. To increase the shock absorbing capacity of the bumper add </a:t>
            </a:r>
            <a:r>
              <a:rPr lang="en-US" dirty="0" err="1" smtClean="0"/>
              <a:t>zig</a:t>
            </a:r>
            <a:r>
              <a:rPr lang="en-US" dirty="0" smtClean="0"/>
              <a:t> </a:t>
            </a:r>
            <a:r>
              <a:rPr lang="en-US" dirty="0" err="1" smtClean="0"/>
              <a:t>zag</a:t>
            </a:r>
            <a:r>
              <a:rPr lang="en-US" dirty="0" smtClean="0"/>
              <a:t> structure into the pipe. </a:t>
            </a:r>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smtClean="0"/>
              <a:t>As per dynamic analysis the reaction force is observed 63539N. Which is grater than the existing model. </a:t>
            </a:r>
          </a:p>
          <a:p>
            <a:r>
              <a:rPr lang="en-US" dirty="0" smtClean="0"/>
              <a:t>So the optimize model is more shock absorbing capacity as compare to the existing model.</a:t>
            </a:r>
          </a:p>
          <a:p>
            <a:pPr lvl="0"/>
            <a:r>
              <a:rPr lang="en-IN" dirty="0" smtClean="0"/>
              <a:t>The equivalent stress and total deformation observed on the model is 580 </a:t>
            </a:r>
            <a:r>
              <a:rPr lang="en-IN" dirty="0" err="1" smtClean="0"/>
              <a:t>MPa</a:t>
            </a:r>
            <a:r>
              <a:rPr lang="en-IN" dirty="0" smtClean="0"/>
              <a:t> and 8.9 mm.</a:t>
            </a:r>
          </a:p>
          <a:p>
            <a:pPr lvl="0"/>
            <a:r>
              <a:rPr lang="en-IN" dirty="0" smtClean="0"/>
              <a:t>The </a:t>
            </a:r>
            <a:r>
              <a:rPr lang="en-IN" dirty="0" err="1" smtClean="0"/>
              <a:t>Zig</a:t>
            </a:r>
            <a:r>
              <a:rPr lang="en-IN" dirty="0" smtClean="0"/>
              <a:t> </a:t>
            </a:r>
            <a:r>
              <a:rPr lang="en-IN" dirty="0" err="1" smtClean="0"/>
              <a:t>zag</a:t>
            </a:r>
            <a:r>
              <a:rPr lang="en-IN" dirty="0" smtClean="0"/>
              <a:t> structure have a  533N/mm² stress .</a:t>
            </a:r>
            <a:endParaRPr lang="en-US" dirty="0" smtClean="0"/>
          </a:p>
          <a:p>
            <a:endParaRPr lang="en-US" dirty="0"/>
          </a:p>
        </p:txBody>
      </p:sp>
      <p:sp>
        <p:nvSpPr>
          <p:cNvPr id="2" name="TextBox 1"/>
          <p:cNvSpPr txBox="1"/>
          <p:nvPr/>
        </p:nvSpPr>
        <p:spPr>
          <a:xfrm>
            <a:off x="1905000" y="609600"/>
            <a:ext cx="5181600" cy="769441"/>
          </a:xfrm>
          <a:prstGeom prst="rect">
            <a:avLst/>
          </a:prstGeom>
          <a:noFill/>
        </p:spPr>
        <p:txBody>
          <a:bodyPr wrap="square" rtlCol="0">
            <a:spAutoFit/>
          </a:bodyPr>
          <a:lstStyle/>
          <a:p>
            <a:pPr algn="ctr"/>
            <a:r>
              <a:rPr lang="en-IN" sz="4400" b="1" dirty="0" smtClean="0"/>
              <a:t>CONCLUSION</a:t>
            </a:r>
            <a:endParaRPr lang="en-US" sz="4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dirty="0"/>
              <a:t>EXPERIMENTAL CONCLUSION</a:t>
            </a:r>
          </a:p>
        </p:txBody>
      </p:sp>
      <p:sp>
        <p:nvSpPr>
          <p:cNvPr id="3" name="Content Placeholder 2"/>
          <p:cNvSpPr>
            <a:spLocks noGrp="1"/>
          </p:cNvSpPr>
          <p:nvPr>
            <p:ph idx="1"/>
          </p:nvPr>
        </p:nvSpPr>
        <p:spPr/>
        <p:txBody>
          <a:bodyPr>
            <a:normAutofit lnSpcReduction="10000"/>
          </a:bodyPr>
          <a:lstStyle/>
          <a:p>
            <a:r>
              <a:rPr lang="en-US" dirty="0" smtClean="0"/>
              <a:t>As </a:t>
            </a:r>
            <a:r>
              <a:rPr lang="en-US" dirty="0"/>
              <a:t>per Experimental testing after applying the load of the 44.9K the deformation observed is 4.1 mm in the pipe.</a:t>
            </a:r>
          </a:p>
          <a:p>
            <a:r>
              <a:rPr lang="en-US" dirty="0" smtClean="0"/>
              <a:t>As </a:t>
            </a:r>
            <a:r>
              <a:rPr lang="en-US" dirty="0"/>
              <a:t>per static analysis we applied the load on the same load as experimental testing and check out the deformation to validate the result.</a:t>
            </a:r>
          </a:p>
          <a:p>
            <a:r>
              <a:rPr lang="en-US" dirty="0" smtClean="0"/>
              <a:t>The </a:t>
            </a:r>
            <a:r>
              <a:rPr lang="en-US" dirty="0"/>
              <a:t>deformation observed in the FEA is 3.6 mm.</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Total Analytical and Experimental Deformation</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09353146"/>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7355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REFERENCES</a:t>
            </a:r>
            <a:endParaRPr lang="en-US" dirty="0"/>
          </a:p>
        </p:txBody>
      </p:sp>
      <p:sp>
        <p:nvSpPr>
          <p:cNvPr id="3" name="Content Placeholder 2"/>
          <p:cNvSpPr>
            <a:spLocks noGrp="1"/>
          </p:cNvSpPr>
          <p:nvPr>
            <p:ph idx="1"/>
          </p:nvPr>
        </p:nvSpPr>
        <p:spPr/>
        <p:txBody>
          <a:bodyPr>
            <a:normAutofit fontScale="47500" lnSpcReduction="20000"/>
          </a:bodyPr>
          <a:lstStyle/>
          <a:p>
            <a:pPr lvl="0"/>
            <a:r>
              <a:rPr lang="en-IN" dirty="0" smtClean="0"/>
              <a:t>“</a:t>
            </a:r>
            <a:r>
              <a:rPr lang="en-US" dirty="0" smtClean="0"/>
              <a:t>Crash analysis of a passenger car bumper assembly to improve design for impact test</a:t>
            </a:r>
            <a:r>
              <a:rPr lang="en-IN" dirty="0" smtClean="0"/>
              <a:t>” by </a:t>
            </a:r>
            <a:r>
              <a:rPr lang="en-US" dirty="0" smtClean="0"/>
              <a:t>Mohammed Abdul </a:t>
            </a:r>
            <a:r>
              <a:rPr lang="en-US" dirty="0" err="1" smtClean="0"/>
              <a:t>Basith</a:t>
            </a:r>
            <a:r>
              <a:rPr lang="en-US" dirty="0" smtClean="0"/>
              <a:t>, N. </a:t>
            </a:r>
            <a:r>
              <a:rPr lang="en-US" dirty="0" err="1" smtClean="0"/>
              <a:t>Chandrashekar</a:t>
            </a:r>
            <a:r>
              <a:rPr lang="en-US" dirty="0" smtClean="0"/>
              <a:t> Reddy, </a:t>
            </a:r>
            <a:r>
              <a:rPr lang="en-US" dirty="0" err="1" smtClean="0"/>
              <a:t>Sudhakar</a:t>
            </a:r>
            <a:r>
              <a:rPr lang="en-US" dirty="0" smtClean="0"/>
              <a:t> </a:t>
            </a:r>
            <a:r>
              <a:rPr lang="en-US" dirty="0" err="1" smtClean="0"/>
              <a:t>Uppalapati</a:t>
            </a:r>
            <a:r>
              <a:rPr lang="en-US" dirty="0" smtClean="0"/>
              <a:t>, S.P. </a:t>
            </a:r>
            <a:r>
              <a:rPr lang="en-US" dirty="0" err="1" smtClean="0"/>
              <a:t>Jani</a:t>
            </a:r>
            <a:r>
              <a:rPr lang="en-IN" dirty="0" smtClean="0"/>
              <a:t>. </a:t>
            </a:r>
            <a:r>
              <a:rPr lang="en-US" dirty="0" smtClean="0"/>
              <a:t>2214-7853/ 2020 Elsevier </a:t>
            </a:r>
            <a:r>
              <a:rPr lang="en-US" dirty="0" err="1" smtClean="0"/>
              <a:t>Ltd.</a:t>
            </a:r>
            <a:r>
              <a:rPr lang="en-US" dirty="0" err="1" smtClean="0">
                <a:hlinkClick r:id="rId2"/>
              </a:rPr>
              <a:t>https</a:t>
            </a:r>
            <a:r>
              <a:rPr lang="en-US" dirty="0" smtClean="0">
                <a:hlinkClick r:id="rId2"/>
              </a:rPr>
              <a:t>://</a:t>
            </a:r>
            <a:r>
              <a:rPr lang="en-US" dirty="0" err="1" smtClean="0">
                <a:hlinkClick r:id="rId2"/>
              </a:rPr>
              <a:t>doi.org</a:t>
            </a:r>
            <a:r>
              <a:rPr lang="en-US" dirty="0" smtClean="0">
                <a:hlinkClick r:id="rId2"/>
              </a:rPr>
              <a:t>/10.1016/j.matpr.2020.08.561</a:t>
            </a:r>
            <a:r>
              <a:rPr lang="en-IN" dirty="0" smtClean="0">
                <a:hlinkClick r:id="rId2"/>
              </a:rPr>
              <a:t>.</a:t>
            </a:r>
            <a:endParaRPr lang="en-US" dirty="0" smtClean="0"/>
          </a:p>
          <a:p>
            <a:pPr lvl="0"/>
            <a:r>
              <a:rPr lang="en-IN" dirty="0" smtClean="0"/>
              <a:t>“</a:t>
            </a:r>
            <a:r>
              <a:rPr lang="en-US" dirty="0" smtClean="0"/>
              <a:t>3D printing as an enabling technology to implement maritime </a:t>
            </a:r>
            <a:r>
              <a:rPr lang="en-US" dirty="0" err="1" smtClean="0"/>
              <a:t>plasticCircular</a:t>
            </a:r>
            <a:r>
              <a:rPr lang="en-US" dirty="0" smtClean="0"/>
              <a:t> </a:t>
            </a:r>
            <a:r>
              <a:rPr lang="en-US" dirty="0" err="1" smtClean="0"/>
              <a:t>Econom</a:t>
            </a:r>
            <a:r>
              <a:rPr lang="en-IN" dirty="0" smtClean="0"/>
              <a:t>y” by </a:t>
            </a:r>
            <a:r>
              <a:rPr lang="en-US" dirty="0" smtClean="0"/>
              <a:t>J. </a:t>
            </a:r>
            <a:r>
              <a:rPr lang="en-US" dirty="0" err="1" smtClean="0"/>
              <a:t>Garrido</a:t>
            </a:r>
            <a:r>
              <a:rPr lang="en-US" dirty="0" smtClean="0"/>
              <a:t>, J. </a:t>
            </a:r>
            <a:r>
              <a:rPr lang="en-US" dirty="0" err="1" smtClean="0"/>
              <a:t>Saez</a:t>
            </a:r>
            <a:r>
              <a:rPr lang="en-US" dirty="0" smtClean="0"/>
              <a:t>, J.I. </a:t>
            </a:r>
            <a:r>
              <a:rPr lang="en-US" dirty="0" err="1" smtClean="0"/>
              <a:t>Armesto</a:t>
            </a:r>
            <a:r>
              <a:rPr lang="en-US" dirty="0" smtClean="0"/>
              <a:t>, A.M. </a:t>
            </a:r>
            <a:r>
              <a:rPr lang="en-US" dirty="0" err="1" smtClean="0"/>
              <a:t>Espada</a:t>
            </a:r>
            <a:r>
              <a:rPr lang="en-US" dirty="0" smtClean="0"/>
              <a:t>, D. Silva, J. </a:t>
            </a:r>
            <a:r>
              <a:rPr lang="en-US" dirty="0" err="1" smtClean="0"/>
              <a:t>Goikoetxea</a:t>
            </a:r>
            <a:r>
              <a:rPr lang="en-US" dirty="0" smtClean="0"/>
              <a:t>, A. </a:t>
            </a:r>
            <a:r>
              <a:rPr lang="en-US" dirty="0" err="1" smtClean="0"/>
              <a:t>Arrillaga</a:t>
            </a:r>
            <a:r>
              <a:rPr lang="en-IN" dirty="0" smtClean="0"/>
              <a:t>. </a:t>
            </a:r>
            <a:r>
              <a:rPr lang="en-US" dirty="0" err="1" smtClean="0"/>
              <a:t>Procedia</a:t>
            </a:r>
            <a:r>
              <a:rPr lang="en-US" dirty="0" smtClean="0"/>
              <a:t> Manufacturing 51 (2020)</a:t>
            </a:r>
            <a:r>
              <a:rPr lang="en-IN" dirty="0" smtClean="0"/>
              <a:t>.</a:t>
            </a:r>
            <a:endParaRPr lang="en-US" dirty="0" smtClean="0"/>
          </a:p>
          <a:p>
            <a:pPr lvl="0"/>
            <a:r>
              <a:rPr lang="en-IN" dirty="0" smtClean="0"/>
              <a:t>“</a:t>
            </a:r>
            <a:r>
              <a:rPr lang="en-US" dirty="0" smtClean="0"/>
              <a:t>Design and manufacture of automotive composite front bumper assemble component considering </a:t>
            </a:r>
            <a:r>
              <a:rPr lang="en-IN" dirty="0" smtClean="0"/>
              <a:t>inter-facial</a:t>
            </a:r>
            <a:r>
              <a:rPr lang="en-US" dirty="0" smtClean="0"/>
              <a:t> bond characteristics between </a:t>
            </a:r>
            <a:r>
              <a:rPr lang="en-US" dirty="0" err="1" smtClean="0"/>
              <a:t>overmolded</a:t>
            </a:r>
            <a:r>
              <a:rPr lang="en-US" dirty="0" smtClean="0"/>
              <a:t> chopped glass fiber polypropylene and continuous glass fiber polypropylene composite</a:t>
            </a:r>
            <a:r>
              <a:rPr lang="en-IN" dirty="0" smtClean="0"/>
              <a:t>” by  </a:t>
            </a:r>
            <a:r>
              <a:rPr lang="en-US" dirty="0" smtClean="0"/>
              <a:t>Sung-Jun </a:t>
            </a:r>
            <a:r>
              <a:rPr lang="en-US" dirty="0" err="1" smtClean="0"/>
              <a:t>Jooa</a:t>
            </a:r>
            <a:r>
              <a:rPr lang="en-US" dirty="0" smtClean="0"/>
              <a:t> , </a:t>
            </a:r>
            <a:r>
              <a:rPr lang="en-US" dirty="0" err="1" smtClean="0"/>
              <a:t>Myeong-Hyeon</a:t>
            </a:r>
            <a:r>
              <a:rPr lang="en-US" dirty="0" smtClean="0"/>
              <a:t> </a:t>
            </a:r>
            <a:r>
              <a:rPr lang="en-US" dirty="0" err="1" smtClean="0"/>
              <a:t>Yua</a:t>
            </a:r>
            <a:r>
              <a:rPr lang="en-US" dirty="0" smtClean="0"/>
              <a:t> , Won </a:t>
            </a:r>
            <a:r>
              <a:rPr lang="en-US" dirty="0" err="1" smtClean="0"/>
              <a:t>Seock</a:t>
            </a:r>
            <a:r>
              <a:rPr lang="en-US" dirty="0" smtClean="0"/>
              <a:t> </a:t>
            </a:r>
            <a:r>
              <a:rPr lang="en-US" dirty="0" err="1" smtClean="0"/>
              <a:t>Kimb</a:t>
            </a:r>
            <a:r>
              <a:rPr lang="en-US" dirty="0" smtClean="0"/>
              <a:t> , </a:t>
            </a:r>
            <a:r>
              <a:rPr lang="en-US" dirty="0" err="1" smtClean="0"/>
              <a:t>Jong-Wook</a:t>
            </a:r>
            <a:r>
              <a:rPr lang="en-US" dirty="0" smtClean="0"/>
              <a:t> </a:t>
            </a:r>
            <a:r>
              <a:rPr lang="en-US" dirty="0" err="1" smtClean="0"/>
              <a:t>Leeb</a:t>
            </a:r>
            <a:r>
              <a:rPr lang="en-US" dirty="0" smtClean="0"/>
              <a:t> , </a:t>
            </a:r>
            <a:r>
              <a:rPr lang="en-US" dirty="0" err="1" smtClean="0"/>
              <a:t>Hak</a:t>
            </a:r>
            <a:r>
              <a:rPr lang="en-US" dirty="0" smtClean="0"/>
              <a:t>-Sung Kim</a:t>
            </a:r>
            <a:r>
              <a:rPr lang="en-IN" dirty="0" smtClean="0"/>
              <a:t>.  </a:t>
            </a:r>
            <a:r>
              <a:rPr lang="en-US" dirty="0" smtClean="0"/>
              <a:t>https://doi.org/10.1016/j.compstruct.2019.111849 Received 4 March 2019</a:t>
            </a:r>
            <a:r>
              <a:rPr lang="en-IN" dirty="0" smtClean="0"/>
              <a:t>.</a:t>
            </a:r>
            <a:endParaRPr lang="en-US" dirty="0" smtClean="0"/>
          </a:p>
          <a:p>
            <a:pPr lvl="0"/>
            <a:r>
              <a:rPr lang="en-IN" dirty="0" smtClean="0"/>
              <a:t>“</a:t>
            </a:r>
            <a:r>
              <a:rPr lang="en-US" dirty="0" smtClean="0"/>
              <a:t>Design improvements of vehicle bumper for low speed impact</a:t>
            </a:r>
            <a:r>
              <a:rPr lang="en-IN" dirty="0" smtClean="0"/>
              <a:t>” by </a:t>
            </a:r>
            <a:r>
              <a:rPr lang="en-US" dirty="0" err="1" smtClean="0"/>
              <a:t>Neraj</a:t>
            </a:r>
            <a:r>
              <a:rPr lang="en-US" dirty="0" smtClean="0"/>
              <a:t> </a:t>
            </a:r>
            <a:r>
              <a:rPr lang="en-US" dirty="0" err="1" smtClean="0"/>
              <a:t>Natarajan</a:t>
            </a:r>
            <a:r>
              <a:rPr lang="en-US" dirty="0" smtClean="0"/>
              <a:t>, </a:t>
            </a:r>
            <a:r>
              <a:rPr lang="en-US" dirty="0" err="1" smtClean="0"/>
              <a:t>Preeti</a:t>
            </a:r>
            <a:r>
              <a:rPr lang="en-US" dirty="0" smtClean="0"/>
              <a:t> Joshi , R.K. </a:t>
            </a:r>
            <a:r>
              <a:rPr lang="en-US" dirty="0" err="1" smtClean="0"/>
              <a:t>Tyagi</a:t>
            </a:r>
            <a:r>
              <a:rPr lang="en-IN" dirty="0" smtClean="0"/>
              <a:t>. </a:t>
            </a:r>
            <a:r>
              <a:rPr lang="en-US" dirty="0" smtClean="0"/>
              <a:t>https://doi.org/10.1016/j.matpr.2020.08.212 2214-7853/ 2020 Elsevier Ltd. All rights reserved.</a:t>
            </a:r>
          </a:p>
          <a:p>
            <a:pPr lvl="0"/>
            <a:r>
              <a:rPr lang="en-IN" dirty="0" smtClean="0"/>
              <a:t>“</a:t>
            </a:r>
            <a:r>
              <a:rPr lang="en-US" dirty="0" smtClean="0"/>
              <a:t>Large core plastic planar optical splitter fabricated by 3D printing technology</a:t>
            </a:r>
            <a:r>
              <a:rPr lang="en-IN" dirty="0" smtClean="0"/>
              <a:t>” by </a:t>
            </a:r>
            <a:r>
              <a:rPr lang="en-US" dirty="0" err="1" smtClean="0"/>
              <a:t>VáclavPrajzler</a:t>
            </a:r>
            <a:r>
              <a:rPr lang="en-US" dirty="0" smtClean="0"/>
              <a:t>, </a:t>
            </a:r>
            <a:r>
              <a:rPr lang="en-US" dirty="0" err="1" smtClean="0"/>
              <a:t>Pavel</a:t>
            </a:r>
            <a:r>
              <a:rPr lang="en-US" dirty="0" smtClean="0"/>
              <a:t> </a:t>
            </a:r>
            <a:r>
              <a:rPr lang="en-US" dirty="0" err="1" smtClean="0"/>
              <a:t>Kulha</a:t>
            </a:r>
            <a:r>
              <a:rPr lang="en-US" dirty="0" smtClean="0"/>
              <a:t>, Marian </a:t>
            </a:r>
            <a:r>
              <a:rPr lang="en-US" dirty="0" err="1" smtClean="0"/>
              <a:t>Knietel</a:t>
            </a:r>
            <a:r>
              <a:rPr lang="en-US" dirty="0" smtClean="0"/>
              <a:t>, </a:t>
            </a:r>
            <a:r>
              <a:rPr lang="en-US" dirty="0" err="1" smtClean="0"/>
              <a:t>HerbertEnser</a:t>
            </a:r>
            <a:r>
              <a:rPr lang="en-IN" dirty="0" smtClean="0"/>
              <a:t>. </a:t>
            </a:r>
            <a:r>
              <a:rPr lang="en-US" dirty="0" smtClean="0">
                <a:hlinkClick r:id="rId3"/>
              </a:rPr>
              <a:t>http://dx.doi.org/10.1016/j.</a:t>
            </a:r>
            <a:r>
              <a:rPr lang="en-US" dirty="0" smtClean="0"/>
              <a:t>optcom.2017.04.070 Received 1 March 2017</a:t>
            </a:r>
            <a:r>
              <a:rPr lang="en-IN" dirty="0" smtClean="0"/>
              <a:t>.</a:t>
            </a:r>
            <a:endParaRPr lang="en-US" dirty="0" smtClean="0"/>
          </a:p>
          <a:p>
            <a:pPr lvl="0"/>
            <a:r>
              <a:rPr lang="en-IN" dirty="0" smtClean="0"/>
              <a:t>“M</a:t>
            </a:r>
            <a:r>
              <a:rPr lang="en-US" dirty="0" err="1" smtClean="0"/>
              <a:t>etal</a:t>
            </a:r>
            <a:r>
              <a:rPr lang="en-US" dirty="0" smtClean="0"/>
              <a:t>-plastic hybrid 3D printing using catalyst-loaded filament and </a:t>
            </a:r>
            <a:r>
              <a:rPr lang="en-US" dirty="0" err="1" smtClean="0"/>
              <a:t>electroless</a:t>
            </a:r>
            <a:r>
              <a:rPr lang="en-US" dirty="0" smtClean="0"/>
              <a:t> plating</a:t>
            </a:r>
            <a:r>
              <a:rPr lang="en-IN" dirty="0" smtClean="0"/>
              <a:t>” by </a:t>
            </a:r>
            <a:r>
              <a:rPr lang="en-US" dirty="0" smtClean="0"/>
              <a:t>Jing Zhan, Takayuki Tamura , </a:t>
            </a:r>
            <a:r>
              <a:rPr lang="en-US" dirty="0" err="1" smtClean="0"/>
              <a:t>Xiaotong</a:t>
            </a:r>
            <a:r>
              <a:rPr lang="en-US" dirty="0" smtClean="0"/>
              <a:t> Li , </a:t>
            </a:r>
            <a:r>
              <a:rPr lang="en-US" dirty="0" err="1" smtClean="0"/>
              <a:t>Zhenghao</a:t>
            </a:r>
            <a:r>
              <a:rPr lang="en-US" dirty="0" smtClean="0"/>
              <a:t> Ma, </a:t>
            </a:r>
            <a:r>
              <a:rPr lang="en-US" dirty="0" err="1" smtClean="0"/>
              <a:t>MichinariSone,MasahiroYoshino</a:t>
            </a:r>
            <a:r>
              <a:rPr lang="en-US" dirty="0" smtClean="0"/>
              <a:t>, </a:t>
            </a:r>
            <a:r>
              <a:rPr lang="en-US" dirty="0" err="1" smtClean="0"/>
              <a:t>ShinjiroUmezu</a:t>
            </a:r>
            <a:r>
              <a:rPr lang="en-US" dirty="0" smtClean="0"/>
              <a:t>, </a:t>
            </a:r>
            <a:r>
              <a:rPr lang="en-US" dirty="0" err="1" smtClean="0"/>
              <a:t>HirotakaSato</a:t>
            </a:r>
            <a:r>
              <a:rPr lang="en-IN" dirty="0" smtClean="0"/>
              <a:t>. </a:t>
            </a:r>
            <a:r>
              <a:rPr lang="en-US" dirty="0" smtClean="0"/>
              <a:t>https://doi.org/10.1016/j.addma.2020.101556 Received 20 February 2020</a:t>
            </a:r>
            <a:r>
              <a:rPr lang="en-IN" dirty="0" smtClean="0"/>
              <a:t>.</a:t>
            </a:r>
            <a:endParaRPr lang="en-US" dirty="0" smtClean="0"/>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1307</Words>
  <Application>Microsoft Office PowerPoint</Application>
  <PresentationFormat>On-screen Show (4:3)</PresentationFormat>
  <Paragraphs>98</Paragraphs>
  <Slides>47</Slides>
  <Notes>1</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“IMPACT IMPROVEMENT OF FRONTAL BUMPER PIPE USING PLA MATERIAL AND 3D PRINTING TECHNOLOGY WITH WASTE PLASTIC”</vt:lpstr>
      <vt:lpstr>ABSTRACT</vt:lpstr>
      <vt:lpstr>PowerPoint Presentation</vt:lpstr>
      <vt:lpstr>PROBLEM STATEMENT</vt:lpstr>
      <vt:lpstr>OBJECTIVES</vt:lpstr>
      <vt:lpstr>METHODOLOGY</vt:lpstr>
      <vt:lpstr>PowerPoint Presentation</vt:lpstr>
      <vt:lpstr>OVERVIEW</vt:lpstr>
      <vt:lpstr>GLOBAL NCAP TEST</vt:lpstr>
      <vt:lpstr>CRASH TEST</vt:lpstr>
      <vt:lpstr>3D MODELLING OF THE FRONT BUMPER RECTANGULAR PIPE </vt:lpstr>
      <vt:lpstr>3D MODEL FOR THE FEA</vt:lpstr>
      <vt:lpstr>FINITE ELEMENT ANALYSIS</vt:lpstr>
      <vt:lpstr>MATERIAL PROPERTIES For Original </vt:lpstr>
      <vt:lpstr>Original Weight</vt:lpstr>
      <vt:lpstr>MESH</vt:lpstr>
      <vt:lpstr>BOUNDARY CONDITION </vt:lpstr>
      <vt:lpstr>RESULTS-: Total deformation</vt:lpstr>
      <vt:lpstr>RESULTS-: Total Deformation in Bumper</vt:lpstr>
      <vt:lpstr>RESULTS:- Direction deformation at y direction </vt:lpstr>
      <vt:lpstr>RESULTS-:Equivalent stress generated on the front bumper pipe</vt:lpstr>
      <vt:lpstr>RESULTS-: Reaction force</vt:lpstr>
      <vt:lpstr>Zig zag Shape PLA</vt:lpstr>
      <vt:lpstr>MATERIAL PROPERTIES FOR PLA</vt:lpstr>
      <vt:lpstr>Weight of PLA Material</vt:lpstr>
      <vt:lpstr>RESULTS-: Total deformation</vt:lpstr>
      <vt:lpstr>RESULTS-: Total Deformation in Bumper</vt:lpstr>
      <vt:lpstr>RESULTS-:Equivalent stress generated on the front bumper pipe</vt:lpstr>
      <vt:lpstr>RESULTS-:Equivalent stress generated on the front bumper Zig Zag Shape</vt:lpstr>
      <vt:lpstr>RESULTS-: Reaction force</vt:lpstr>
      <vt:lpstr>Honeycomb Shape PLA</vt:lpstr>
      <vt:lpstr>Weight of PLA Material</vt:lpstr>
      <vt:lpstr>Result : Total Deformation</vt:lpstr>
      <vt:lpstr>Result : Total Deformation in Bumper Pipe</vt:lpstr>
      <vt:lpstr>Result : Equivalent stress generated on the front bumper pipe</vt:lpstr>
      <vt:lpstr>Results : Equivalent stress generated on the front bumper Honeycomb Shape</vt:lpstr>
      <vt:lpstr>Result : Reaction Force</vt:lpstr>
      <vt:lpstr>EXPERIMENTAL TEST RESULTS</vt:lpstr>
      <vt:lpstr>EXPERIMENTAL FEA</vt:lpstr>
      <vt:lpstr>MESHING</vt:lpstr>
      <vt:lpstr>RESULTS</vt:lpstr>
      <vt:lpstr>DEFROMATION RESULT</vt:lpstr>
      <vt:lpstr>CONCLUSION</vt:lpstr>
      <vt:lpstr>PowerPoint Presentation</vt:lpstr>
      <vt:lpstr>EXPERIMENTAL CONCLUSION</vt:lpstr>
      <vt:lpstr>Total Analytical and Experimental Deformation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CRASH ANALYSIS AND IMPACT IMPROVEMENT OF FRONTAL BUMPER PIPE USING PLA MATERIAL AND 3D PRINTING TECHNOLOGY WITH WASTE PLASTIC</dc:title>
  <dc:creator>dell</dc:creator>
  <cp:lastModifiedBy>Admin</cp:lastModifiedBy>
  <cp:revision>16</cp:revision>
  <dcterms:created xsi:type="dcterms:W3CDTF">2006-08-16T00:00:00Z</dcterms:created>
  <dcterms:modified xsi:type="dcterms:W3CDTF">2025-06-09T04:06:47Z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99BBC25BF3E8434A9CDAA740D2E55BCA</vt:lpwstr>
  </property>
  <property fmtid="{D5CDD505-2E9C-101B-9397-08002B2CF9AE}" pid="3" name="KSOProductBuildVer">
    <vt:lpwstr>1033-11.2.0.11130</vt:lpwstr>
  </property>
</Properties>
</file>